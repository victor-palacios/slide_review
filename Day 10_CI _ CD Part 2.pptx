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Inter SemiBold"/>
      <p:regular r:id="rId46"/>
      <p:bold r:id="rId47"/>
      <p:italic r:id="rId48"/>
      <p:boldItalic r:id="rId49"/>
    </p:embeddedFont>
    <p:embeddedFont>
      <p:font typeface="Alegreya SemiBold"/>
      <p:regular r:id="rId50"/>
      <p:bold r:id="rId51"/>
      <p:italic r:id="rId52"/>
      <p:boldItalic r:id="rId53"/>
    </p:embeddedFont>
    <p:embeddedFont>
      <p:font typeface="Newsreader"/>
      <p:regular r:id="rId54"/>
      <p:bold r:id="rId55"/>
      <p:italic r:id="rId56"/>
      <p:boldItalic r:id="rId57"/>
    </p:embeddedFont>
    <p:embeddedFont>
      <p:font typeface="Alegreya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InterSemiBold-regular.fntdata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InterSemiBold-italic.fntdata"/><Relationship Id="rId47" Type="http://schemas.openxmlformats.org/officeDocument/2006/relationships/font" Target="fonts/InterSemiBold-bold.fntdata"/><Relationship Id="rId49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Alegreya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Alegreya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legreyaSemiBold-bold.fntdata"/><Relationship Id="rId50" Type="http://schemas.openxmlformats.org/officeDocument/2006/relationships/font" Target="fonts/AlegreyaSemiBold-regular.fntdata"/><Relationship Id="rId53" Type="http://schemas.openxmlformats.org/officeDocument/2006/relationships/font" Target="fonts/AlegreyaSemiBold-boldItalic.fntdata"/><Relationship Id="rId52" Type="http://schemas.openxmlformats.org/officeDocument/2006/relationships/font" Target="fonts/AlegreyaSemiBold-italic.fntdata"/><Relationship Id="rId11" Type="http://schemas.openxmlformats.org/officeDocument/2006/relationships/slide" Target="slides/slide6.xml"/><Relationship Id="rId55" Type="http://schemas.openxmlformats.org/officeDocument/2006/relationships/font" Target="fonts/Newsreader-bold.fntdata"/><Relationship Id="rId10" Type="http://schemas.openxmlformats.org/officeDocument/2006/relationships/slide" Target="slides/slide5.xml"/><Relationship Id="rId54" Type="http://schemas.openxmlformats.org/officeDocument/2006/relationships/font" Target="fonts/Newsreader-regular.fntdata"/><Relationship Id="rId13" Type="http://schemas.openxmlformats.org/officeDocument/2006/relationships/slide" Target="slides/slide8.xml"/><Relationship Id="rId57" Type="http://schemas.openxmlformats.org/officeDocument/2006/relationships/font" Target="fonts/Newsreader-boldItalic.fntdata"/><Relationship Id="rId12" Type="http://schemas.openxmlformats.org/officeDocument/2006/relationships/slide" Target="slides/slide7.xml"/><Relationship Id="rId56" Type="http://schemas.openxmlformats.org/officeDocument/2006/relationships/font" Target="fonts/Newsreader-italic.fntdata"/><Relationship Id="rId15" Type="http://schemas.openxmlformats.org/officeDocument/2006/relationships/slide" Target="slides/slide10.xml"/><Relationship Id="rId59" Type="http://schemas.openxmlformats.org/officeDocument/2006/relationships/font" Target="fonts/Alegreya-bold.fntdata"/><Relationship Id="rId14" Type="http://schemas.openxmlformats.org/officeDocument/2006/relationships/slide" Target="slides/slide9.xml"/><Relationship Id="rId58" Type="http://schemas.openxmlformats.org/officeDocument/2006/relationships/font" Target="fonts/Alegrey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50daa8659_3_3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50daa8659_3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e9d05524c_0_1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de9d05524c_0_1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e9d05524c_0_1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e9d05524c_0_1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e9d05524c_0_13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e9d05524c_0_13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a880c43e_0_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a880c43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a880c43e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8a880c43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a880c43e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8a880c4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a880c43e_0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8a880c43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8a880c43e_0_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8a880c43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8a880c43e_0_1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8a880c43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8a880c43e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8a880c43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8a880c43e_0_1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8a880c4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8a880c43e_0_1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8a880c43e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8a880c43e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8a880c43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a880c43e_0_1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8a880c43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8a880c43e_0_1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8a880c43e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e9d05524c_0_9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e9d05524c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e9d05524c_0_9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e9d05524c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e9d05524c_0_9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e9d05524c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e9d05524c_0_10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e9d05524c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9d05524c_0_10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e9d05524c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e9d05524c_0_1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e9d05524c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e9d05524c_0_10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e9d05524c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e9d05524c_0_1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e9d05524c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e9d05524c_0_10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e9d05524c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e9d05524c_0_5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e9d05524c_0_5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e9d05524c_0_5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de9d05524c_0_5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e9d05524c_0_5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e9d05524c_0_5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e9d05524c_0_5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de9d05524c_0_5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e9d05524c_0_5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de9d05524c_0_5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e9d05524c_0_5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de9d05524c_0_5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e9d05524c_0_5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de9d05524c_0_5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e9d05524c_0_6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de9d05524c_0_6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e9d05524c_0_6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de9d05524c_0_6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e9d05524c_0_6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de9d05524c_0_6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e9d05524c_0_6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de9d05524c_0_6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e9d05524c_0_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de9d05524c_0_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e9d05524c_0_7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de9d05524c_0_7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e9d05524c_0_8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de9d05524c_0_8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e9d05524c_0_8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de9d05524c_0_8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rgbClr val="7ECC99"/>
            </a:gs>
            <a:gs pos="100000">
              <a:srgbClr val="40885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7875" y="1662450"/>
            <a:ext cx="7068300" cy="18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rgbClr val="7ECC99"/>
            </a:gs>
            <a:gs pos="100000">
              <a:srgbClr val="40885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" type="body"/>
          </p:nvPr>
        </p:nvSpPr>
        <p:spPr>
          <a:xfrm>
            <a:off x="1037875" y="1323600"/>
            <a:ext cx="7639500" cy="3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275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●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1pPr>
            <a:lvl2pPr indent="-412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○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2pPr>
            <a:lvl3pPr indent="-412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■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3pPr>
            <a:lvl4pPr indent="-412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●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4pPr>
            <a:lvl5pPr indent="-412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○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5pPr>
            <a:lvl6pPr indent="-412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■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6pPr>
            <a:lvl7pPr indent="-412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●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7pPr>
            <a:lvl8pPr indent="-412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○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8pPr>
            <a:lvl9pPr indent="-412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egreya SemiBold"/>
              <a:buChar char="■"/>
              <a:defRPr sz="2900">
                <a:solidFill>
                  <a:schemeClr val="lt1"/>
                </a:solidFill>
                <a:latin typeface="Alegreya SemiBold"/>
                <a:ea typeface="Alegreya SemiBold"/>
                <a:cs typeface="Alegreya SemiBold"/>
                <a:sym typeface="Alegreya SemiBold"/>
              </a:defRPr>
            </a:lvl9pPr>
          </a:lstStyle>
          <a:p/>
        </p:txBody>
      </p:sp>
      <p:sp>
        <p:nvSpPr>
          <p:cNvPr id="13" name="Google Shape;13;p3"/>
          <p:cNvSpPr txBox="1"/>
          <p:nvPr/>
        </p:nvSpPr>
        <p:spPr>
          <a:xfrm>
            <a:off x="961675" y="527994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lt1"/>
                </a:solidFill>
              </a:rPr>
              <a:t>“</a:t>
            </a:r>
            <a:endParaRPr b="1" sz="9600">
              <a:solidFill>
                <a:schemeClr val="lt1"/>
              </a:solidFill>
            </a:endParaRPr>
          </a:p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245325" y="225500"/>
            <a:ext cx="4003200" cy="227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/>
          <p:nvPr>
            <p:ph idx="2" type="title"/>
          </p:nvPr>
        </p:nvSpPr>
        <p:spPr>
          <a:xfrm>
            <a:off x="4867325" y="225500"/>
            <a:ext cx="4003200" cy="227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p5"/>
          <p:cNvSpPr txBox="1"/>
          <p:nvPr>
            <p:ph idx="3" type="title"/>
          </p:nvPr>
        </p:nvSpPr>
        <p:spPr>
          <a:xfrm>
            <a:off x="245325" y="2688950"/>
            <a:ext cx="4003200" cy="227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" name="Google Shape;24;p5"/>
          <p:cNvSpPr txBox="1"/>
          <p:nvPr>
            <p:ph idx="4" type="title"/>
          </p:nvPr>
        </p:nvSpPr>
        <p:spPr>
          <a:xfrm>
            <a:off x="4867325" y="2688950"/>
            <a:ext cx="4003200" cy="227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99000" y="633700"/>
            <a:ext cx="3302400" cy="31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202373" y="602375"/>
            <a:ext cx="3302400" cy="31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BLANK_1">
    <p:bg>
      <p:bgPr>
        <a:gradFill>
          <a:gsLst>
            <a:gs pos="0">
              <a:srgbClr val="7ECC99"/>
            </a:gs>
            <a:gs pos="100000">
              <a:srgbClr val="40885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D9EAD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Calibri"/>
              <a:buNone/>
              <a:defRPr b="1"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3400" y="4152900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Calibri"/>
              <a:buNone/>
              <a:defRPr b="1"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500"/>
              <a:buNone/>
              <a:defRPr sz="1500">
                <a:solidFill>
                  <a:srgbClr val="888B8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400"/>
              <a:buNone/>
              <a:defRPr sz="1400">
                <a:solidFill>
                  <a:srgbClr val="888B8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200"/>
              <a:buNone/>
              <a:defRPr sz="1200">
                <a:solidFill>
                  <a:srgbClr val="888B8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200"/>
              <a:buNone/>
              <a:defRPr sz="1200">
                <a:solidFill>
                  <a:srgbClr val="888B8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200"/>
              <a:buNone/>
              <a:defRPr sz="1200">
                <a:solidFill>
                  <a:srgbClr val="888B8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200"/>
              <a:buNone/>
              <a:defRPr sz="1200">
                <a:solidFill>
                  <a:srgbClr val="888B8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200"/>
              <a:buNone/>
              <a:defRPr sz="1200">
                <a:solidFill>
                  <a:srgbClr val="888B8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B8C"/>
              </a:buClr>
              <a:buSzPts val="1200"/>
              <a:buNone/>
              <a:defRPr sz="1200">
                <a:solidFill>
                  <a:srgbClr val="888B8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2" name="Google Shape;62;p16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4" name="Google Shape;64;p16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3400" y="4152900"/>
            <a:ext cx="990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rgbClr val="D9EAD3"/>
            </a:gs>
          </a:gsLst>
          <a:lin ang="2698631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Newsreader"/>
              <a:buNone/>
              <a:defRPr b="1" sz="3600">
                <a:solidFill>
                  <a:schemeClr val="accent4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sz="3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7875" y="1353950"/>
            <a:ext cx="7068300" cy="3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●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3810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○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■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●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○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■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●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○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ewsreader"/>
              <a:buChar char="■"/>
              <a:defRPr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 algn="ctr"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B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eps.python.org/pep-0008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ctrTitle"/>
          </p:nvPr>
        </p:nvSpPr>
        <p:spPr>
          <a:xfrm>
            <a:off x="438900" y="1662450"/>
            <a:ext cx="8266200" cy="18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Day 10</a:t>
            </a:r>
            <a:br>
              <a:rPr lang="en" sz="5600"/>
            </a:br>
            <a:r>
              <a:rPr lang="en" sz="5600"/>
              <a:t>CI / CD Part 2</a:t>
            </a:r>
            <a:endParaRPr sz="5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Code Styling</a:t>
            </a:r>
            <a:endParaRPr/>
          </a:p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Code styling is team-dependent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(Python Enhancement Proposal) </a:t>
            </a:r>
            <a:r>
              <a:rPr lang="en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PEP 8</a:t>
            </a:r>
            <a:r>
              <a:rPr lang="en"/>
              <a:t> is commonly used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" y="3000971"/>
            <a:ext cx="5556478" cy="994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8180" y="2045970"/>
            <a:ext cx="4449128" cy="2956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 txBox="1"/>
          <p:nvPr/>
        </p:nvSpPr>
        <p:spPr>
          <a:xfrm>
            <a:off x="914400" y="4041704"/>
            <a:ext cx="2617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 from https://peps.python.org/pep-0008/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Linting</a:t>
            </a:r>
            <a:endParaRPr/>
          </a:p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Linting: check code for errors (both programmatic and style)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There are many linters to choose from: pylint, flake8, pycodestyle, and others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Use linters within your IDE (pycharm, VSCode)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Configure with a pyproject.toml file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 txBox="1"/>
          <p:nvPr/>
        </p:nvSpPr>
        <p:spPr>
          <a:xfrm>
            <a:off x="628650" y="3126495"/>
            <a:ext cx="2674500" cy="71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pip install pylint</a:t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pylint file.py</a:t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5"/>
          <p:cNvSpPr txBox="1"/>
          <p:nvPr/>
        </p:nvSpPr>
        <p:spPr>
          <a:xfrm>
            <a:off x="4301398" y="2710996"/>
            <a:ext cx="4214100" cy="243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yproject.toml</a:t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[tool.pylint.messages_control]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disable = [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"missing-final-newline",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"missing-function-docstring”,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Code Formatting</a:t>
            </a:r>
            <a:endParaRPr/>
          </a:p>
        </p:txBody>
      </p:sp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Formatters: will format your code for you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isort – sorts your imports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Autopep8 – PEP 8 auto-formatting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Black – opinionated formatter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20" name="Google Shape;120;p26"/>
          <p:cNvSpPr txBox="1"/>
          <p:nvPr/>
        </p:nvSpPr>
        <p:spPr>
          <a:xfrm>
            <a:off x="628650" y="3126495"/>
            <a:ext cx="2674500" cy="114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pip install black isort</a:t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black file.py</a:t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isort file.py</a:t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4507964" y="1678165"/>
            <a:ext cx="4214100" cy="351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yproject.toml</a:t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[tool.pylint.messages_control]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disable = [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"missing-final-newline",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"missing-function-docstring”,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[tool.black]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line-length = 100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target-version = ['py39']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skip-string-normalization = true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[tool.isort]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length_sort = true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ctrTitle"/>
          </p:nvPr>
        </p:nvSpPr>
        <p:spPr>
          <a:xfrm>
            <a:off x="438900" y="1662450"/>
            <a:ext cx="8266200" cy="18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Deployment</a:t>
            </a:r>
            <a:endParaRPr sz="5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everything to turn an artifact into a maintainable system </a:t>
            </a:r>
            <a:endParaRPr/>
          </a:p>
        </p:txBody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>
            <a:off x="245325" y="1228724"/>
            <a:ext cx="4003200" cy="13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Online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chemeClr val="dk1"/>
                </a:solidFill>
              </a:rPr>
              <a:t>Has to happen now</a:t>
            </a:r>
            <a:endParaRPr b="0" sz="3600">
              <a:solidFill>
                <a:schemeClr val="dk1"/>
              </a:solidFill>
            </a:endParaRPr>
          </a:p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9"/>
          <p:cNvSpPr txBox="1"/>
          <p:nvPr>
            <p:ph idx="2" type="title"/>
          </p:nvPr>
        </p:nvSpPr>
        <p:spPr>
          <a:xfrm>
            <a:off x="4867325" y="1228774"/>
            <a:ext cx="4003200" cy="13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Offline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chemeClr val="dk1"/>
                </a:solidFill>
              </a:rPr>
              <a:t>Occurs in intervals</a:t>
            </a:r>
            <a:endParaRPr b="0" sz="3600">
              <a:solidFill>
                <a:schemeClr val="dk1"/>
              </a:solidFill>
            </a:endParaRPr>
          </a:p>
        </p:txBody>
      </p:sp>
      <p:sp>
        <p:nvSpPr>
          <p:cNvPr id="141" name="Google Shape;141;p29"/>
          <p:cNvSpPr txBox="1"/>
          <p:nvPr>
            <p:ph type="title"/>
          </p:nvPr>
        </p:nvSpPr>
        <p:spPr>
          <a:xfrm>
            <a:off x="245325" y="186086"/>
            <a:ext cx="8828700" cy="39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Deployment Types</a:t>
            </a:r>
            <a:endParaRPr sz="3600"/>
          </a:p>
        </p:txBody>
      </p:sp>
      <p:pic>
        <p:nvPicPr>
          <p:cNvPr id="142" name="Google Shape;142;p29" title="Screenshot 2026-02-17 at 10.58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00" y="2843375"/>
            <a:ext cx="3859450" cy="17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9"/>
          <p:cNvPicPr preferRelativeResize="0"/>
          <p:nvPr/>
        </p:nvPicPr>
        <p:blipFill rotWithShape="1">
          <a:blip r:embed="rId4">
            <a:alphaModFix/>
          </a:blip>
          <a:srcRect b="9527" l="0" r="0" t="0"/>
          <a:stretch/>
        </p:blipFill>
        <p:spPr>
          <a:xfrm>
            <a:off x="5233063" y="2843375"/>
            <a:ext cx="3271736" cy="177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259400" y="1877674"/>
            <a:ext cx="4003200" cy="13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Client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chemeClr val="dk1"/>
                </a:solidFill>
              </a:rPr>
              <a:t>Gimme info</a:t>
            </a:r>
            <a:endParaRPr b="0" sz="3600">
              <a:solidFill>
                <a:schemeClr val="dk1"/>
              </a:solidFill>
            </a:endParaRPr>
          </a:p>
        </p:txBody>
      </p:sp>
      <p:sp>
        <p:nvSpPr>
          <p:cNvPr id="149" name="Google Shape;149;p30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30"/>
          <p:cNvSpPr txBox="1"/>
          <p:nvPr>
            <p:ph idx="2" type="title"/>
          </p:nvPr>
        </p:nvSpPr>
        <p:spPr>
          <a:xfrm>
            <a:off x="4881400" y="1877724"/>
            <a:ext cx="4003200" cy="13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API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chemeClr val="dk1"/>
                </a:solidFill>
              </a:rPr>
              <a:t>Here you go</a:t>
            </a:r>
            <a:endParaRPr b="0" sz="3600">
              <a:solidFill>
                <a:schemeClr val="dk1"/>
              </a:solidFill>
            </a:endParaRPr>
          </a:p>
        </p:txBody>
      </p:sp>
      <p:sp>
        <p:nvSpPr>
          <p:cNvPr id="151" name="Google Shape;151;p30"/>
          <p:cNvSpPr txBox="1"/>
          <p:nvPr>
            <p:ph type="title"/>
          </p:nvPr>
        </p:nvSpPr>
        <p:spPr>
          <a:xfrm>
            <a:off x="245325" y="186086"/>
            <a:ext cx="8828700" cy="39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Online Deployment</a:t>
            </a:r>
            <a:endParaRPr sz="3600"/>
          </a:p>
        </p:txBody>
      </p:sp>
      <p:sp>
        <p:nvSpPr>
          <p:cNvPr id="152" name="Google Shape;152;p30"/>
          <p:cNvSpPr/>
          <p:nvPr/>
        </p:nvSpPr>
        <p:spPr>
          <a:xfrm>
            <a:off x="4176800" y="2372975"/>
            <a:ext cx="993900" cy="397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1" title="Screenshot 2026-02-17 at 13.28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30"/>
            <a:ext cx="9144003" cy="5125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 title="Screenshot 2026-02-17 at 13.29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3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ctrTitle"/>
          </p:nvPr>
        </p:nvSpPr>
        <p:spPr>
          <a:xfrm>
            <a:off x="438900" y="1662450"/>
            <a:ext cx="8266200" cy="18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Continuous Deployment</a:t>
            </a:r>
            <a:endParaRPr sz="5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Automatically update and serve model</a:t>
            </a:r>
            <a:endParaRPr/>
          </a:p>
        </p:txBody>
      </p:sp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Seems dangerous, right?</a:t>
            </a:r>
            <a:endParaRPr/>
          </a:p>
        </p:txBody>
      </p:sp>
      <p:sp>
        <p:nvSpPr>
          <p:cNvPr id="180" name="Google Shape;180;p35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is another CD, continuous delivery, which automates all steps except the push to production</a:t>
            </a:r>
            <a:endParaRPr/>
          </a:p>
        </p:txBody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How?</a:t>
            </a:r>
            <a:endParaRPr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GitHub Actions, CRON, etc.</a:t>
            </a:r>
            <a:endParaRPr/>
          </a:p>
        </p:txBody>
      </p:sp>
      <p:sp>
        <p:nvSpPr>
          <p:cNvPr id="188" name="Google Shape;188;p36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94" name="Google Shape;194;p37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N (hour/day/week/month), we: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1. Pull data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2. Train challenger and champion model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3. Evaluate models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4. Deploy the model that wins</a:t>
            </a:r>
            <a:endParaRPr/>
          </a:p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Pseudo Code</a:t>
            </a:r>
            <a:endParaRPr/>
          </a:p>
        </p:txBody>
      </p:sp>
      <p:sp>
        <p:nvSpPr>
          <p:cNvPr id="201" name="Google Shape;201;p38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def load()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Load or pull updated data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def train()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Champion and Challenger model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def evaluate()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Evaluate which model is better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def deploy()	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Automatically deploy the better model</a:t>
            </a:r>
            <a:endParaRPr/>
          </a:p>
        </p:txBody>
      </p:sp>
      <p:sp>
        <p:nvSpPr>
          <p:cNvPr id="202" name="Google Shape;202;p38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8"/>
          <p:cNvSpPr/>
          <p:nvPr/>
        </p:nvSpPr>
        <p:spPr>
          <a:xfrm>
            <a:off x="6203675" y="844800"/>
            <a:ext cx="1222200" cy="3738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04" name="Google Shape;204;p38"/>
          <p:cNvSpPr txBox="1"/>
          <p:nvPr/>
        </p:nvSpPr>
        <p:spPr>
          <a:xfrm>
            <a:off x="7425875" y="2409942"/>
            <a:ext cx="115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YAML</a:t>
            </a:r>
            <a:endParaRPr sz="24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model? New deployment methods</a:t>
            </a:r>
            <a:endParaRPr/>
          </a:p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1" name="Google Shape;211;p39"/>
          <p:cNvGrpSpPr/>
          <p:nvPr/>
        </p:nvGrpSpPr>
        <p:grpSpPr>
          <a:xfrm>
            <a:off x="673953" y="1122218"/>
            <a:ext cx="7141856" cy="898893"/>
            <a:chOff x="2789785" y="1323164"/>
            <a:chExt cx="5221800" cy="731700"/>
          </a:xfrm>
        </p:grpSpPr>
        <p:sp>
          <p:nvSpPr>
            <p:cNvPr id="212" name="Google Shape;212;p39"/>
            <p:cNvSpPr/>
            <p:nvPr/>
          </p:nvSpPr>
          <p:spPr>
            <a:xfrm>
              <a:off x="2789785" y="1323164"/>
              <a:ext cx="5221800" cy="7317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Alegreya"/>
                <a:ea typeface="Alegreya"/>
                <a:cs typeface="Alegreya"/>
                <a:sym typeface="Alegreya"/>
              </a:endParaRPr>
            </a:p>
          </p:txBody>
        </p:sp>
        <p:sp>
          <p:nvSpPr>
            <p:cNvPr id="213" name="Google Shape;213;p39"/>
            <p:cNvSpPr txBox="1"/>
            <p:nvPr/>
          </p:nvSpPr>
          <p:spPr>
            <a:xfrm>
              <a:off x="2914390" y="1407440"/>
              <a:ext cx="5023200" cy="5754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chemeClr val="lt1"/>
                  </a:solidFill>
                  <a:latin typeface="Alegreya"/>
                  <a:ea typeface="Alegreya"/>
                  <a:cs typeface="Alegreya"/>
                  <a:sym typeface="Alegreya"/>
                </a:rPr>
                <a:t>A/B Testing</a:t>
              </a:r>
              <a:endParaRPr b="1" sz="3600">
                <a:solidFill>
                  <a:schemeClr val="lt1"/>
                </a:solidFill>
                <a:latin typeface="Alegreya"/>
                <a:ea typeface="Alegreya"/>
                <a:cs typeface="Alegreya"/>
                <a:sym typeface="Alegreya"/>
              </a:endParaRPr>
            </a:p>
          </p:txBody>
        </p:sp>
      </p:grpSp>
      <p:grpSp>
        <p:nvGrpSpPr>
          <p:cNvPr id="214" name="Google Shape;214;p39"/>
          <p:cNvGrpSpPr/>
          <p:nvPr/>
        </p:nvGrpSpPr>
        <p:grpSpPr>
          <a:xfrm>
            <a:off x="673953" y="2248074"/>
            <a:ext cx="7141856" cy="898893"/>
            <a:chOff x="2789785" y="1323164"/>
            <a:chExt cx="5221800" cy="731700"/>
          </a:xfrm>
        </p:grpSpPr>
        <p:sp>
          <p:nvSpPr>
            <p:cNvPr id="215" name="Google Shape;215;p39"/>
            <p:cNvSpPr/>
            <p:nvPr/>
          </p:nvSpPr>
          <p:spPr>
            <a:xfrm>
              <a:off x="2789785" y="1323164"/>
              <a:ext cx="5221800" cy="7317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Alegreya"/>
                <a:ea typeface="Alegreya"/>
                <a:cs typeface="Alegreya"/>
                <a:sym typeface="Alegreya"/>
              </a:endParaRPr>
            </a:p>
          </p:txBody>
        </p:sp>
        <p:sp>
          <p:nvSpPr>
            <p:cNvPr id="216" name="Google Shape;216;p39"/>
            <p:cNvSpPr txBox="1"/>
            <p:nvPr/>
          </p:nvSpPr>
          <p:spPr>
            <a:xfrm>
              <a:off x="2914389" y="1407440"/>
              <a:ext cx="4765800" cy="5754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chemeClr val="lt1"/>
                  </a:solidFill>
                  <a:latin typeface="Alegreya"/>
                  <a:ea typeface="Alegreya"/>
                  <a:cs typeface="Alegreya"/>
                  <a:sym typeface="Alegreya"/>
                </a:rPr>
                <a:t>Canary Deployment</a:t>
              </a:r>
              <a:endParaRPr b="1" sz="3600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endParaRPr>
            </a:p>
          </p:txBody>
        </p:sp>
      </p:grpSp>
      <p:grpSp>
        <p:nvGrpSpPr>
          <p:cNvPr id="217" name="Google Shape;217;p39"/>
          <p:cNvGrpSpPr/>
          <p:nvPr/>
        </p:nvGrpSpPr>
        <p:grpSpPr>
          <a:xfrm>
            <a:off x="674067" y="3373938"/>
            <a:ext cx="7142072" cy="898893"/>
            <a:chOff x="2789785" y="1323164"/>
            <a:chExt cx="5274405" cy="731700"/>
          </a:xfrm>
        </p:grpSpPr>
        <p:sp>
          <p:nvSpPr>
            <p:cNvPr id="218" name="Google Shape;218;p39"/>
            <p:cNvSpPr/>
            <p:nvPr/>
          </p:nvSpPr>
          <p:spPr>
            <a:xfrm>
              <a:off x="2789785" y="1323164"/>
              <a:ext cx="5221800" cy="7317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Alegreya"/>
                <a:ea typeface="Alegreya"/>
                <a:cs typeface="Alegreya"/>
                <a:sym typeface="Alegreya"/>
              </a:endParaRPr>
            </a:p>
          </p:txBody>
        </p:sp>
        <p:sp>
          <p:nvSpPr>
            <p:cNvPr id="219" name="Google Shape;219;p39"/>
            <p:cNvSpPr txBox="1"/>
            <p:nvPr/>
          </p:nvSpPr>
          <p:spPr>
            <a:xfrm>
              <a:off x="2914390" y="1407445"/>
              <a:ext cx="5149800" cy="5754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chemeClr val="lt1"/>
                  </a:solidFill>
                  <a:latin typeface="Alegreya"/>
                  <a:ea typeface="Alegreya"/>
                  <a:cs typeface="Alegreya"/>
                  <a:sym typeface="Alegreya"/>
                </a:rPr>
                <a:t>Shadow Deployment</a:t>
              </a:r>
              <a:endParaRPr b="1" sz="3600">
                <a:solidFill>
                  <a:schemeClr val="lt1"/>
                </a:solidFill>
                <a:latin typeface="Alegreya"/>
                <a:ea typeface="Alegreya"/>
                <a:cs typeface="Alegreya"/>
                <a:sym typeface="Alegrey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Canary Deployment</a:t>
            </a:r>
            <a:endParaRPr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424100" y="733900"/>
            <a:ext cx="4127400" cy="17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Subset of data tested </a:t>
            </a:r>
            <a:br>
              <a:rPr lang="en"/>
            </a:br>
            <a:r>
              <a:rPr lang="en"/>
              <a:t>with new model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Increase subset until</a:t>
            </a:r>
            <a:br>
              <a:rPr lang="en"/>
            </a:br>
            <a:r>
              <a:rPr lang="en"/>
              <a:t>original becomes subset</a:t>
            </a:r>
            <a:endParaRPr/>
          </a:p>
        </p:txBody>
      </p:sp>
      <p:sp>
        <p:nvSpPr>
          <p:cNvPr id="226" name="Google Shape;226;p40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825" y="225488"/>
            <a:ext cx="3238500" cy="216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40"/>
          <p:cNvCxnSpPr>
            <a:endCxn id="229" idx="2"/>
          </p:cNvCxnSpPr>
          <p:nvPr/>
        </p:nvCxnSpPr>
        <p:spPr>
          <a:xfrm flipH="1" rot="10800000">
            <a:off x="822823" y="3034297"/>
            <a:ext cx="5157600" cy="960600"/>
          </a:xfrm>
          <a:prstGeom prst="curvedConnector3">
            <a:avLst>
              <a:gd fmla="val 50000" name="adj1"/>
            </a:avLst>
          </a:prstGeom>
          <a:noFill/>
          <a:ln cap="flat" cmpd="sng" w="21315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0" name="Google Shape;230;p40"/>
          <p:cNvCxnSpPr>
            <a:endCxn id="231" idx="2"/>
          </p:cNvCxnSpPr>
          <p:nvPr/>
        </p:nvCxnSpPr>
        <p:spPr>
          <a:xfrm>
            <a:off x="822823" y="4090922"/>
            <a:ext cx="5157600" cy="370200"/>
          </a:xfrm>
          <a:prstGeom prst="curvedConnector3">
            <a:avLst>
              <a:gd fmla="val 50000" name="adj1"/>
            </a:avLst>
          </a:prstGeom>
          <a:noFill/>
          <a:ln cap="flat" cmpd="sng" w="682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2" name="Google Shape;232;p40"/>
          <p:cNvSpPr txBox="1"/>
          <p:nvPr/>
        </p:nvSpPr>
        <p:spPr>
          <a:xfrm>
            <a:off x="3612325" y="3101793"/>
            <a:ext cx="1011900" cy="35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0675" lIns="61375" spcFirstLastPara="1" rIns="61375" wrap="square" tIns="30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0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(100-n)%</a:t>
            </a:r>
            <a:endParaRPr sz="940"/>
          </a:p>
        </p:txBody>
      </p:sp>
      <p:sp>
        <p:nvSpPr>
          <p:cNvPr id="233" name="Google Shape;233;p40"/>
          <p:cNvSpPr txBox="1"/>
          <p:nvPr/>
        </p:nvSpPr>
        <p:spPr>
          <a:xfrm>
            <a:off x="3612325" y="4187086"/>
            <a:ext cx="423300" cy="35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0675" lIns="61375" spcFirstLastPara="1" rIns="61375" wrap="square" tIns="30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0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n%</a:t>
            </a:r>
            <a:endParaRPr sz="940"/>
          </a:p>
        </p:txBody>
      </p:sp>
      <p:sp>
        <p:nvSpPr>
          <p:cNvPr id="229" name="Google Shape;229;p40"/>
          <p:cNvSpPr/>
          <p:nvPr/>
        </p:nvSpPr>
        <p:spPr>
          <a:xfrm>
            <a:off x="5980423" y="2666647"/>
            <a:ext cx="735300" cy="7353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0675" lIns="61375" spcFirstLastPara="1" rIns="61375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8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940"/>
          </a:p>
        </p:txBody>
      </p:sp>
      <p:sp>
        <p:nvSpPr>
          <p:cNvPr id="231" name="Google Shape;231;p40"/>
          <p:cNvSpPr/>
          <p:nvPr/>
        </p:nvSpPr>
        <p:spPr>
          <a:xfrm>
            <a:off x="5980423" y="4093472"/>
            <a:ext cx="735300" cy="7353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0675" lIns="61375" spcFirstLastPara="1" rIns="61375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8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sz="940"/>
          </a:p>
        </p:txBody>
      </p:sp>
      <p:cxnSp>
        <p:nvCxnSpPr>
          <p:cNvPr id="234" name="Google Shape;234;p40"/>
          <p:cNvCxnSpPr/>
          <p:nvPr/>
        </p:nvCxnSpPr>
        <p:spPr>
          <a:xfrm>
            <a:off x="6715753" y="3034312"/>
            <a:ext cx="935400" cy="0"/>
          </a:xfrm>
          <a:prstGeom prst="straightConnector1">
            <a:avLst/>
          </a:prstGeom>
          <a:noFill/>
          <a:ln cap="flat" cmpd="sng" w="12790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5" name="Google Shape;235;p40"/>
          <p:cNvCxnSpPr/>
          <p:nvPr/>
        </p:nvCxnSpPr>
        <p:spPr>
          <a:xfrm>
            <a:off x="6715753" y="4461137"/>
            <a:ext cx="851100" cy="0"/>
          </a:xfrm>
          <a:prstGeom prst="straightConnector1">
            <a:avLst/>
          </a:prstGeom>
          <a:noFill/>
          <a:ln cap="flat" cmpd="sng" w="5115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Canary Deployment</a:t>
            </a:r>
            <a:endParaRPr/>
          </a:p>
        </p:txBody>
      </p:sp>
      <p:sp>
        <p:nvSpPr>
          <p:cNvPr id="241" name="Google Shape;241;p41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2" name="Google Shape;242;p41"/>
          <p:cNvCxnSpPr>
            <a:endCxn id="243" idx="2"/>
          </p:cNvCxnSpPr>
          <p:nvPr/>
        </p:nvCxnSpPr>
        <p:spPr>
          <a:xfrm flipH="1" rot="10800000">
            <a:off x="1157835" y="1914447"/>
            <a:ext cx="5157600" cy="960600"/>
          </a:xfrm>
          <a:prstGeom prst="curvedConnector3">
            <a:avLst>
              <a:gd fmla="val 50000" name="adj1"/>
            </a:avLst>
          </a:prstGeom>
          <a:noFill/>
          <a:ln cap="flat" cmpd="sng" w="21315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4" name="Google Shape;244;p41"/>
          <p:cNvCxnSpPr>
            <a:endCxn id="245" idx="2"/>
          </p:cNvCxnSpPr>
          <p:nvPr/>
        </p:nvCxnSpPr>
        <p:spPr>
          <a:xfrm>
            <a:off x="1157835" y="2971072"/>
            <a:ext cx="5157600" cy="370200"/>
          </a:xfrm>
          <a:prstGeom prst="curvedConnector3">
            <a:avLst>
              <a:gd fmla="val 50000" name="adj1"/>
            </a:avLst>
          </a:prstGeom>
          <a:noFill/>
          <a:ln cap="flat" cmpd="sng" w="682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6" name="Google Shape;246;p41"/>
          <p:cNvSpPr txBox="1"/>
          <p:nvPr/>
        </p:nvSpPr>
        <p:spPr>
          <a:xfrm>
            <a:off x="4090599" y="1954192"/>
            <a:ext cx="592200" cy="35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0675" lIns="61375" spcFirstLastPara="1" rIns="61375" wrap="square" tIns="30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0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sz="940"/>
          </a:p>
        </p:txBody>
      </p:sp>
      <p:sp>
        <p:nvSpPr>
          <p:cNvPr id="247" name="Google Shape;247;p41"/>
          <p:cNvSpPr txBox="1"/>
          <p:nvPr/>
        </p:nvSpPr>
        <p:spPr>
          <a:xfrm>
            <a:off x="4090600" y="3048325"/>
            <a:ext cx="592200" cy="35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0675" lIns="61375" spcFirstLastPara="1" rIns="61375" wrap="square" tIns="30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0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sz="940"/>
          </a:p>
        </p:txBody>
      </p:sp>
      <p:sp>
        <p:nvSpPr>
          <p:cNvPr id="243" name="Google Shape;243;p41"/>
          <p:cNvSpPr/>
          <p:nvPr/>
        </p:nvSpPr>
        <p:spPr>
          <a:xfrm>
            <a:off x="6315435" y="1546797"/>
            <a:ext cx="735300" cy="7353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0675" lIns="61375" spcFirstLastPara="1" rIns="61375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8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940"/>
          </a:p>
        </p:txBody>
      </p:sp>
      <p:sp>
        <p:nvSpPr>
          <p:cNvPr id="245" name="Google Shape;245;p41"/>
          <p:cNvSpPr/>
          <p:nvPr/>
        </p:nvSpPr>
        <p:spPr>
          <a:xfrm>
            <a:off x="6315435" y="2973622"/>
            <a:ext cx="735300" cy="7353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0675" lIns="61375" spcFirstLastPara="1" rIns="61375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8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sz="940"/>
          </a:p>
        </p:txBody>
      </p:sp>
      <p:cxnSp>
        <p:nvCxnSpPr>
          <p:cNvPr id="248" name="Google Shape;248;p41"/>
          <p:cNvCxnSpPr/>
          <p:nvPr/>
        </p:nvCxnSpPr>
        <p:spPr>
          <a:xfrm>
            <a:off x="7050765" y="1914462"/>
            <a:ext cx="935400" cy="0"/>
          </a:xfrm>
          <a:prstGeom prst="straightConnector1">
            <a:avLst/>
          </a:prstGeom>
          <a:noFill/>
          <a:ln cap="flat" cmpd="sng" w="12790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9" name="Google Shape;249;p41"/>
          <p:cNvCxnSpPr/>
          <p:nvPr/>
        </p:nvCxnSpPr>
        <p:spPr>
          <a:xfrm>
            <a:off x="7050765" y="3341287"/>
            <a:ext cx="851100" cy="0"/>
          </a:xfrm>
          <a:prstGeom prst="straightConnector1">
            <a:avLst/>
          </a:prstGeom>
          <a:noFill/>
          <a:ln cap="flat" cmpd="sng" w="5115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Canary Deployment</a:t>
            </a:r>
            <a:endParaRPr/>
          </a:p>
        </p:txBody>
      </p:sp>
      <p:sp>
        <p:nvSpPr>
          <p:cNvPr id="255" name="Google Shape;255;p42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42"/>
          <p:cNvCxnSpPr>
            <a:endCxn id="257" idx="2"/>
          </p:cNvCxnSpPr>
          <p:nvPr/>
        </p:nvCxnSpPr>
        <p:spPr>
          <a:xfrm flipH="1" rot="10800000">
            <a:off x="1157835" y="1914447"/>
            <a:ext cx="5157600" cy="960600"/>
          </a:xfrm>
          <a:prstGeom prst="curvedConnector3">
            <a:avLst>
              <a:gd fmla="val 50000" name="adj1"/>
            </a:avLst>
          </a:prstGeom>
          <a:noFill/>
          <a:ln cap="flat" cmpd="sng" w="21315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8" name="Google Shape;258;p42"/>
          <p:cNvCxnSpPr>
            <a:endCxn id="259" idx="2"/>
          </p:cNvCxnSpPr>
          <p:nvPr/>
        </p:nvCxnSpPr>
        <p:spPr>
          <a:xfrm>
            <a:off x="1157835" y="2971072"/>
            <a:ext cx="5157600" cy="370200"/>
          </a:xfrm>
          <a:prstGeom prst="curvedConnector3">
            <a:avLst>
              <a:gd fmla="val 50000" name="adj1"/>
            </a:avLst>
          </a:prstGeom>
          <a:noFill/>
          <a:ln cap="flat" cmpd="sng" w="682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" name="Google Shape;260;p42"/>
          <p:cNvSpPr txBox="1"/>
          <p:nvPr/>
        </p:nvSpPr>
        <p:spPr>
          <a:xfrm>
            <a:off x="4090599" y="1954192"/>
            <a:ext cx="592200" cy="35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0675" lIns="61375" spcFirstLastPara="1" rIns="61375" wrap="square" tIns="30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0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sz="940"/>
          </a:p>
        </p:txBody>
      </p:sp>
      <p:sp>
        <p:nvSpPr>
          <p:cNvPr id="261" name="Google Shape;261;p42"/>
          <p:cNvSpPr txBox="1"/>
          <p:nvPr/>
        </p:nvSpPr>
        <p:spPr>
          <a:xfrm>
            <a:off x="4090600" y="3048325"/>
            <a:ext cx="592200" cy="35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0675" lIns="61375" spcFirstLastPara="1" rIns="61375" wrap="square" tIns="30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0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940"/>
          </a:p>
        </p:txBody>
      </p:sp>
      <p:sp>
        <p:nvSpPr>
          <p:cNvPr id="257" name="Google Shape;257;p42"/>
          <p:cNvSpPr/>
          <p:nvPr/>
        </p:nvSpPr>
        <p:spPr>
          <a:xfrm>
            <a:off x="6315435" y="1546797"/>
            <a:ext cx="735300" cy="7353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0675" lIns="61375" spcFirstLastPara="1" rIns="61375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8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940"/>
          </a:p>
        </p:txBody>
      </p:sp>
      <p:sp>
        <p:nvSpPr>
          <p:cNvPr id="259" name="Google Shape;259;p42"/>
          <p:cNvSpPr/>
          <p:nvPr/>
        </p:nvSpPr>
        <p:spPr>
          <a:xfrm>
            <a:off x="6315435" y="2973622"/>
            <a:ext cx="735300" cy="7353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0675" lIns="61375" spcFirstLastPara="1" rIns="61375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8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sz="940"/>
          </a:p>
        </p:txBody>
      </p:sp>
      <p:cxnSp>
        <p:nvCxnSpPr>
          <p:cNvPr id="262" name="Google Shape;262;p42"/>
          <p:cNvCxnSpPr/>
          <p:nvPr/>
        </p:nvCxnSpPr>
        <p:spPr>
          <a:xfrm>
            <a:off x="7050765" y="1914462"/>
            <a:ext cx="935400" cy="0"/>
          </a:xfrm>
          <a:prstGeom prst="straightConnector1">
            <a:avLst/>
          </a:prstGeom>
          <a:noFill/>
          <a:ln cap="flat" cmpd="sng" w="12790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3" name="Google Shape;263;p42"/>
          <p:cNvCxnSpPr/>
          <p:nvPr/>
        </p:nvCxnSpPr>
        <p:spPr>
          <a:xfrm>
            <a:off x="7050765" y="3341287"/>
            <a:ext cx="851100" cy="0"/>
          </a:xfrm>
          <a:prstGeom prst="straightConnector1">
            <a:avLst/>
          </a:prstGeom>
          <a:noFill/>
          <a:ln cap="flat" cmpd="sng" w="5115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Failure, then Rollback</a:t>
            </a:r>
            <a:endParaRPr/>
          </a:p>
        </p:txBody>
      </p:sp>
      <p:sp>
        <p:nvSpPr>
          <p:cNvPr id="269" name="Google Shape;269;p43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0" name="Google Shape;270;p43"/>
          <p:cNvCxnSpPr>
            <a:endCxn id="271" idx="2"/>
          </p:cNvCxnSpPr>
          <p:nvPr/>
        </p:nvCxnSpPr>
        <p:spPr>
          <a:xfrm flipH="1" rot="10800000">
            <a:off x="674085" y="1992527"/>
            <a:ext cx="6030300" cy="1123200"/>
          </a:xfrm>
          <a:prstGeom prst="curvedConnector3">
            <a:avLst>
              <a:gd fmla="val 50000" name="adj1"/>
            </a:avLst>
          </a:prstGeom>
          <a:noFill/>
          <a:ln cap="flat" cmpd="sng" w="249225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2" name="Google Shape;272;p43"/>
          <p:cNvCxnSpPr>
            <a:endCxn id="273" idx="2"/>
          </p:cNvCxnSpPr>
          <p:nvPr/>
        </p:nvCxnSpPr>
        <p:spPr>
          <a:xfrm>
            <a:off x="674085" y="3227917"/>
            <a:ext cx="6030300" cy="432900"/>
          </a:xfrm>
          <a:prstGeom prst="curvedConnector3">
            <a:avLst>
              <a:gd fmla="val 50000" name="adj1"/>
            </a:avLst>
          </a:prstGeom>
          <a:noFill/>
          <a:ln cap="flat" cmpd="sng" w="2492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1" name="Google Shape;271;p43"/>
          <p:cNvSpPr/>
          <p:nvPr/>
        </p:nvSpPr>
        <p:spPr>
          <a:xfrm>
            <a:off x="6704385" y="1562627"/>
            <a:ext cx="859800" cy="8598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5875" lIns="71775" spcFirstLastPara="1" rIns="71775" wrap="square" tIns="3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3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1099"/>
          </a:p>
        </p:txBody>
      </p:sp>
      <p:sp>
        <p:nvSpPr>
          <p:cNvPr id="273" name="Google Shape;273;p43"/>
          <p:cNvSpPr/>
          <p:nvPr/>
        </p:nvSpPr>
        <p:spPr>
          <a:xfrm>
            <a:off x="6704385" y="3230917"/>
            <a:ext cx="859800" cy="8598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5875" lIns="71775" spcFirstLastPara="1" rIns="71775" wrap="square" tIns="3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3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sz="1099"/>
          </a:p>
        </p:txBody>
      </p:sp>
      <p:sp>
        <p:nvSpPr>
          <p:cNvPr id="274" name="Google Shape;274;p43"/>
          <p:cNvSpPr/>
          <p:nvPr/>
        </p:nvSpPr>
        <p:spPr>
          <a:xfrm>
            <a:off x="6494240" y="3000609"/>
            <a:ext cx="1280100" cy="1268100"/>
          </a:xfrm>
          <a:prstGeom prst="mathMultiply">
            <a:avLst>
              <a:gd fmla="val 23520" name="adj1"/>
            </a:avLst>
          </a:prstGeom>
          <a:solidFill>
            <a:srgbClr val="AE4B4B"/>
          </a:solidFill>
          <a:ln>
            <a:noFill/>
          </a:ln>
        </p:spPr>
        <p:txBody>
          <a:bodyPr anchorCtr="0" anchor="ctr" bIns="35875" lIns="71775" spcFirstLastPara="1" rIns="71775" wrap="square" tIns="3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3"/>
          <p:cNvSpPr txBox="1"/>
          <p:nvPr/>
        </p:nvSpPr>
        <p:spPr>
          <a:xfrm>
            <a:off x="5302664" y="2467892"/>
            <a:ext cx="33426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875" lIns="71775" spcFirstLastPara="1" rIns="71775" wrap="square" tIns="35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98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Rollback to previous version</a:t>
            </a:r>
            <a:endParaRPr sz="1099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Shadow Deployment</a:t>
            </a:r>
            <a:endParaRPr/>
          </a:p>
        </p:txBody>
      </p:sp>
      <p:sp>
        <p:nvSpPr>
          <p:cNvPr id="281" name="Google Shape;281;p44"/>
          <p:cNvSpPr txBox="1"/>
          <p:nvPr>
            <p:ph idx="1" type="body"/>
          </p:nvPr>
        </p:nvSpPr>
        <p:spPr>
          <a:xfrm>
            <a:off x="424100" y="733900"/>
            <a:ext cx="7882800" cy="6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 new version of model on all data</a:t>
            </a:r>
            <a:endParaRPr/>
          </a:p>
        </p:txBody>
      </p:sp>
      <p:sp>
        <p:nvSpPr>
          <p:cNvPr id="282" name="Google Shape;282;p44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3" name="Google Shape;283;p44"/>
          <p:cNvCxnSpPr>
            <a:endCxn id="284" idx="2"/>
          </p:cNvCxnSpPr>
          <p:nvPr/>
        </p:nvCxnSpPr>
        <p:spPr>
          <a:xfrm flipH="1" rot="10800000">
            <a:off x="971548" y="2285254"/>
            <a:ext cx="5439000" cy="1013100"/>
          </a:xfrm>
          <a:prstGeom prst="curvedConnector3">
            <a:avLst>
              <a:gd fmla="val 50000" name="adj1"/>
            </a:avLst>
          </a:prstGeom>
          <a:noFill/>
          <a:ln cap="flat" cmpd="sng" w="22480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5" name="Google Shape;285;p44"/>
          <p:cNvCxnSpPr>
            <a:endCxn id="286" idx="2"/>
          </p:cNvCxnSpPr>
          <p:nvPr/>
        </p:nvCxnSpPr>
        <p:spPr>
          <a:xfrm>
            <a:off x="971548" y="3399666"/>
            <a:ext cx="5439000" cy="390300"/>
          </a:xfrm>
          <a:prstGeom prst="curvedConnector3">
            <a:avLst>
              <a:gd fmla="val 50000" name="adj1"/>
            </a:avLst>
          </a:prstGeom>
          <a:noFill/>
          <a:ln cap="flat" cmpd="sng" w="2248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7" name="Google Shape;287;p44"/>
          <p:cNvSpPr txBox="1"/>
          <p:nvPr/>
        </p:nvSpPr>
        <p:spPr>
          <a:xfrm>
            <a:off x="3913176" y="2356404"/>
            <a:ext cx="700500" cy="37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2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991"/>
          </a:p>
        </p:txBody>
      </p:sp>
      <p:sp>
        <p:nvSpPr>
          <p:cNvPr id="288" name="Google Shape;288;p44"/>
          <p:cNvSpPr txBox="1"/>
          <p:nvPr/>
        </p:nvSpPr>
        <p:spPr>
          <a:xfrm>
            <a:off x="3913176" y="3500940"/>
            <a:ext cx="700500" cy="37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2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991"/>
          </a:p>
        </p:txBody>
      </p:sp>
      <p:sp>
        <p:nvSpPr>
          <p:cNvPr id="289" name="Google Shape;289;p44"/>
          <p:cNvSpPr txBox="1"/>
          <p:nvPr/>
        </p:nvSpPr>
        <p:spPr>
          <a:xfrm>
            <a:off x="1324921" y="3959045"/>
            <a:ext cx="293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/>
          </a:p>
        </p:txBody>
      </p:sp>
      <p:sp>
        <p:nvSpPr>
          <p:cNvPr id="284" name="Google Shape;284;p44"/>
          <p:cNvSpPr/>
          <p:nvPr/>
        </p:nvSpPr>
        <p:spPr>
          <a:xfrm>
            <a:off x="6410548" y="1897504"/>
            <a:ext cx="775500" cy="7755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4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991"/>
          </a:p>
        </p:txBody>
      </p:sp>
      <p:sp>
        <p:nvSpPr>
          <p:cNvPr id="286" name="Google Shape;286;p44"/>
          <p:cNvSpPr/>
          <p:nvPr/>
        </p:nvSpPr>
        <p:spPr>
          <a:xfrm>
            <a:off x="6410548" y="3402216"/>
            <a:ext cx="775500" cy="7755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4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sz="991"/>
          </a:p>
        </p:txBody>
      </p:sp>
      <p:cxnSp>
        <p:nvCxnSpPr>
          <p:cNvPr id="290" name="Google Shape;290;p44"/>
          <p:cNvCxnSpPr>
            <a:stCxn id="284" idx="6"/>
          </p:cNvCxnSpPr>
          <p:nvPr/>
        </p:nvCxnSpPr>
        <p:spPr>
          <a:xfrm>
            <a:off x="7186048" y="2285254"/>
            <a:ext cx="986400" cy="0"/>
          </a:xfrm>
          <a:prstGeom prst="straightConnector1">
            <a:avLst/>
          </a:prstGeom>
          <a:noFill/>
          <a:ln cap="flat" cmpd="sng" w="134875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Blue-Green Deployment</a:t>
            </a:r>
            <a:endParaRPr/>
          </a:p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424100" y="733900"/>
            <a:ext cx="7946400" cy="6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2 live production servers exist but only 1 is active at a time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Build out new features in 2nd server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5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5"/>
          <p:cNvCxnSpPr>
            <a:endCxn id="299" idx="2"/>
          </p:cNvCxnSpPr>
          <p:nvPr/>
        </p:nvCxnSpPr>
        <p:spPr>
          <a:xfrm flipH="1" rot="10800000">
            <a:off x="892748" y="2830504"/>
            <a:ext cx="5439000" cy="1013100"/>
          </a:xfrm>
          <a:prstGeom prst="curvedConnector3">
            <a:avLst>
              <a:gd fmla="val 50000" name="adj1"/>
            </a:avLst>
          </a:prstGeom>
          <a:noFill/>
          <a:ln cap="flat" cmpd="sng" w="22480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0" name="Google Shape;300;p45"/>
          <p:cNvCxnSpPr>
            <a:endCxn id="301" idx="2"/>
          </p:cNvCxnSpPr>
          <p:nvPr/>
        </p:nvCxnSpPr>
        <p:spPr>
          <a:xfrm>
            <a:off x="892748" y="3944916"/>
            <a:ext cx="5439000" cy="390300"/>
          </a:xfrm>
          <a:prstGeom prst="curvedConnector3">
            <a:avLst>
              <a:gd fmla="val 50000" name="adj1"/>
            </a:avLst>
          </a:prstGeom>
          <a:noFill/>
          <a:ln cap="flat" cmpd="sng" w="2248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2" name="Google Shape;302;p45"/>
          <p:cNvSpPr txBox="1"/>
          <p:nvPr/>
        </p:nvSpPr>
        <p:spPr>
          <a:xfrm>
            <a:off x="3834376" y="2901654"/>
            <a:ext cx="700500" cy="37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2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991"/>
          </a:p>
        </p:txBody>
      </p:sp>
      <p:sp>
        <p:nvSpPr>
          <p:cNvPr id="303" name="Google Shape;303;p45"/>
          <p:cNvSpPr txBox="1"/>
          <p:nvPr/>
        </p:nvSpPr>
        <p:spPr>
          <a:xfrm>
            <a:off x="3834376" y="4046190"/>
            <a:ext cx="700500" cy="37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991">
              <a:solidFill>
                <a:schemeClr val="lt1"/>
              </a:solidFill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1246121" y="4504295"/>
            <a:ext cx="293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/>
          </a:p>
        </p:txBody>
      </p:sp>
      <p:sp>
        <p:nvSpPr>
          <p:cNvPr id="299" name="Google Shape;299;p45"/>
          <p:cNvSpPr/>
          <p:nvPr/>
        </p:nvSpPr>
        <p:spPr>
          <a:xfrm>
            <a:off x="6331748" y="2442754"/>
            <a:ext cx="775500" cy="7755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4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991"/>
          </a:p>
        </p:txBody>
      </p:sp>
      <p:sp>
        <p:nvSpPr>
          <p:cNvPr id="301" name="Google Shape;301;p45"/>
          <p:cNvSpPr/>
          <p:nvPr/>
        </p:nvSpPr>
        <p:spPr>
          <a:xfrm>
            <a:off x="6331748" y="3947466"/>
            <a:ext cx="775500" cy="77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sz="991">
              <a:solidFill>
                <a:schemeClr val="lt1"/>
              </a:solidFill>
            </a:endParaRPr>
          </a:p>
        </p:txBody>
      </p:sp>
      <p:cxnSp>
        <p:nvCxnSpPr>
          <p:cNvPr id="305" name="Google Shape;305;p45"/>
          <p:cNvCxnSpPr>
            <a:stCxn id="299" idx="6"/>
          </p:cNvCxnSpPr>
          <p:nvPr/>
        </p:nvCxnSpPr>
        <p:spPr>
          <a:xfrm>
            <a:off x="7107248" y="2830504"/>
            <a:ext cx="986400" cy="0"/>
          </a:xfrm>
          <a:prstGeom prst="straightConnector1">
            <a:avLst/>
          </a:prstGeom>
          <a:noFill/>
          <a:ln cap="flat" cmpd="sng" w="134875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Blue-Green Deployment</a:t>
            </a:r>
            <a:endParaRPr/>
          </a:p>
        </p:txBody>
      </p:sp>
      <p:sp>
        <p:nvSpPr>
          <p:cNvPr id="311" name="Google Shape;311;p46"/>
          <p:cNvSpPr txBox="1"/>
          <p:nvPr>
            <p:ph idx="1" type="body"/>
          </p:nvPr>
        </p:nvSpPr>
        <p:spPr>
          <a:xfrm>
            <a:off x="424100" y="733900"/>
            <a:ext cx="7946400" cy="6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Once second server has all new features, switch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3" name="Google Shape;313;p46"/>
          <p:cNvCxnSpPr>
            <a:endCxn id="314" idx="2"/>
          </p:cNvCxnSpPr>
          <p:nvPr/>
        </p:nvCxnSpPr>
        <p:spPr>
          <a:xfrm flipH="1" rot="10800000">
            <a:off x="971548" y="2285254"/>
            <a:ext cx="5439000" cy="1013100"/>
          </a:xfrm>
          <a:prstGeom prst="curvedConnector3">
            <a:avLst>
              <a:gd fmla="val 50000" name="adj1"/>
            </a:avLst>
          </a:prstGeom>
          <a:noFill/>
          <a:ln cap="flat" cmpd="sng" w="224800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5" name="Google Shape;315;p46"/>
          <p:cNvCxnSpPr>
            <a:endCxn id="316" idx="2"/>
          </p:cNvCxnSpPr>
          <p:nvPr/>
        </p:nvCxnSpPr>
        <p:spPr>
          <a:xfrm>
            <a:off x="971548" y="3399666"/>
            <a:ext cx="5439000" cy="390300"/>
          </a:xfrm>
          <a:prstGeom prst="curvedConnector3">
            <a:avLst>
              <a:gd fmla="val 50000" name="adj1"/>
            </a:avLst>
          </a:prstGeom>
          <a:noFill/>
          <a:ln cap="flat" cmpd="sng" w="2248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7" name="Google Shape;317;p46"/>
          <p:cNvSpPr txBox="1"/>
          <p:nvPr/>
        </p:nvSpPr>
        <p:spPr>
          <a:xfrm>
            <a:off x="3913176" y="2356404"/>
            <a:ext cx="700500" cy="37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991">
              <a:solidFill>
                <a:schemeClr val="lt1"/>
              </a:solidFill>
            </a:endParaRPr>
          </a:p>
        </p:txBody>
      </p:sp>
      <p:sp>
        <p:nvSpPr>
          <p:cNvPr id="318" name="Google Shape;318;p46"/>
          <p:cNvSpPr txBox="1"/>
          <p:nvPr/>
        </p:nvSpPr>
        <p:spPr>
          <a:xfrm>
            <a:off x="3913176" y="3500940"/>
            <a:ext cx="700500" cy="37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2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991"/>
          </a:p>
        </p:txBody>
      </p:sp>
      <p:sp>
        <p:nvSpPr>
          <p:cNvPr id="319" name="Google Shape;319;p46"/>
          <p:cNvSpPr txBox="1"/>
          <p:nvPr/>
        </p:nvSpPr>
        <p:spPr>
          <a:xfrm>
            <a:off x="1324921" y="3959045"/>
            <a:ext cx="293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50" lIns="64725" spcFirstLastPara="1" rIns="64725" wrap="square" tIns="32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/>
          </a:p>
        </p:txBody>
      </p:sp>
      <p:sp>
        <p:nvSpPr>
          <p:cNvPr id="314" name="Google Shape;314;p46"/>
          <p:cNvSpPr/>
          <p:nvPr/>
        </p:nvSpPr>
        <p:spPr>
          <a:xfrm>
            <a:off x="6410548" y="1897504"/>
            <a:ext cx="775500" cy="77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V1.2</a:t>
            </a:r>
            <a:endParaRPr sz="991">
              <a:solidFill>
                <a:schemeClr val="lt1"/>
              </a:solidFill>
            </a:endParaRPr>
          </a:p>
        </p:txBody>
      </p:sp>
      <p:sp>
        <p:nvSpPr>
          <p:cNvPr id="316" name="Google Shape;316;p46"/>
          <p:cNvSpPr/>
          <p:nvPr/>
        </p:nvSpPr>
        <p:spPr>
          <a:xfrm>
            <a:off x="6410548" y="3402216"/>
            <a:ext cx="775500" cy="775500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4">
                <a:solidFill>
                  <a:srgbClr val="0F282F"/>
                </a:solidFill>
                <a:latin typeface="Calibri"/>
                <a:ea typeface="Calibri"/>
                <a:cs typeface="Calibri"/>
                <a:sym typeface="Calibri"/>
              </a:rPr>
              <a:t>V1.1</a:t>
            </a:r>
            <a:endParaRPr sz="991"/>
          </a:p>
        </p:txBody>
      </p:sp>
      <p:cxnSp>
        <p:nvCxnSpPr>
          <p:cNvPr id="320" name="Google Shape;320;p46"/>
          <p:cNvCxnSpPr>
            <a:stCxn id="314" idx="6"/>
          </p:cNvCxnSpPr>
          <p:nvPr/>
        </p:nvCxnSpPr>
        <p:spPr>
          <a:xfrm>
            <a:off x="7186048" y="2285254"/>
            <a:ext cx="986400" cy="0"/>
          </a:xfrm>
          <a:prstGeom prst="straightConnector1">
            <a:avLst/>
          </a:prstGeom>
          <a:noFill/>
          <a:ln cap="flat" cmpd="sng" w="134875">
            <a:solidFill>
              <a:srgbClr val="70AD47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7"/>
          <p:cNvSpPr txBox="1"/>
          <p:nvPr>
            <p:ph type="title"/>
          </p:nvPr>
        </p:nvSpPr>
        <p:spPr>
          <a:xfrm>
            <a:off x="245325" y="225500"/>
            <a:ext cx="88287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Application-based release pattern</a:t>
            </a:r>
            <a:endParaRPr/>
          </a:p>
        </p:txBody>
      </p:sp>
      <p:sp>
        <p:nvSpPr>
          <p:cNvPr id="326" name="Google Shape;326;p47"/>
          <p:cNvSpPr txBox="1"/>
          <p:nvPr>
            <p:ph idx="1" type="body"/>
          </p:nvPr>
        </p:nvSpPr>
        <p:spPr>
          <a:xfrm>
            <a:off x="424100" y="733900"/>
            <a:ext cx="7946400" cy="41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7"/>
          <p:cNvSpPr txBox="1"/>
          <p:nvPr>
            <p:ph idx="12" type="sldNum"/>
          </p:nvPr>
        </p:nvSpPr>
        <p:spPr>
          <a:xfrm>
            <a:off x="8870525" y="4828775"/>
            <a:ext cx="273600" cy="31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8" name="Google Shape;328;p47"/>
          <p:cNvGrpSpPr/>
          <p:nvPr/>
        </p:nvGrpSpPr>
        <p:grpSpPr>
          <a:xfrm>
            <a:off x="673953" y="1122218"/>
            <a:ext cx="7141856" cy="898893"/>
            <a:chOff x="2789785" y="1323164"/>
            <a:chExt cx="5221800" cy="731700"/>
          </a:xfrm>
        </p:grpSpPr>
        <p:sp>
          <p:nvSpPr>
            <p:cNvPr id="329" name="Google Shape;329;p47"/>
            <p:cNvSpPr/>
            <p:nvPr/>
          </p:nvSpPr>
          <p:spPr>
            <a:xfrm>
              <a:off x="2789785" y="1323164"/>
              <a:ext cx="5221800" cy="7317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Alegreya"/>
                <a:ea typeface="Alegreya"/>
                <a:cs typeface="Alegreya"/>
                <a:sym typeface="Alegreya"/>
              </a:endParaRPr>
            </a:p>
          </p:txBody>
        </p:sp>
        <p:sp>
          <p:nvSpPr>
            <p:cNvPr id="330" name="Google Shape;330;p47"/>
            <p:cNvSpPr txBox="1"/>
            <p:nvPr/>
          </p:nvSpPr>
          <p:spPr>
            <a:xfrm>
              <a:off x="2914390" y="1407440"/>
              <a:ext cx="5023200" cy="5754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chemeClr val="lt1"/>
                  </a:solidFill>
                  <a:latin typeface="Alegreya"/>
                  <a:ea typeface="Alegreya"/>
                  <a:cs typeface="Alegreya"/>
                  <a:sym typeface="Alegreya"/>
                </a:rPr>
                <a:t>Modify app to expose / hide feature</a:t>
              </a:r>
              <a:endParaRPr b="1" sz="3600">
                <a:solidFill>
                  <a:schemeClr val="lt1"/>
                </a:solidFill>
                <a:latin typeface="Alegreya"/>
                <a:ea typeface="Alegreya"/>
                <a:cs typeface="Alegreya"/>
                <a:sym typeface="Alegreya"/>
              </a:endParaRPr>
            </a:p>
          </p:txBody>
        </p:sp>
      </p:grpSp>
      <p:grpSp>
        <p:nvGrpSpPr>
          <p:cNvPr id="331" name="Google Shape;331;p47"/>
          <p:cNvGrpSpPr/>
          <p:nvPr/>
        </p:nvGrpSpPr>
        <p:grpSpPr>
          <a:xfrm>
            <a:off x="673953" y="2248074"/>
            <a:ext cx="7141856" cy="898893"/>
            <a:chOff x="2789785" y="1323164"/>
            <a:chExt cx="5221800" cy="731700"/>
          </a:xfrm>
        </p:grpSpPr>
        <p:sp>
          <p:nvSpPr>
            <p:cNvPr id="332" name="Google Shape;332;p47"/>
            <p:cNvSpPr/>
            <p:nvPr/>
          </p:nvSpPr>
          <p:spPr>
            <a:xfrm>
              <a:off x="2789785" y="1323164"/>
              <a:ext cx="5221800" cy="7317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Alegreya"/>
                <a:ea typeface="Alegreya"/>
                <a:cs typeface="Alegreya"/>
                <a:sym typeface="Alegreya"/>
              </a:endParaRPr>
            </a:p>
          </p:txBody>
        </p:sp>
        <p:sp>
          <p:nvSpPr>
            <p:cNvPr id="333" name="Google Shape;333;p47"/>
            <p:cNvSpPr txBox="1"/>
            <p:nvPr/>
          </p:nvSpPr>
          <p:spPr>
            <a:xfrm>
              <a:off x="2914389" y="1407440"/>
              <a:ext cx="4765800" cy="5754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Alegreya"/>
                  <a:ea typeface="Alegreya"/>
                  <a:cs typeface="Alegreya"/>
                  <a:sym typeface="Alegreya"/>
                </a:rPr>
                <a:t>Via a toggle; if bad remove toggle</a:t>
              </a:r>
              <a:endParaRPr b="1" sz="3600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endParaRPr>
            </a:p>
          </p:txBody>
        </p:sp>
      </p:grpSp>
      <p:grpSp>
        <p:nvGrpSpPr>
          <p:cNvPr id="334" name="Google Shape;334;p47"/>
          <p:cNvGrpSpPr/>
          <p:nvPr/>
        </p:nvGrpSpPr>
        <p:grpSpPr>
          <a:xfrm>
            <a:off x="673953" y="3373961"/>
            <a:ext cx="7141856" cy="898893"/>
            <a:chOff x="2789785" y="1323164"/>
            <a:chExt cx="5221800" cy="731700"/>
          </a:xfrm>
        </p:grpSpPr>
        <p:sp>
          <p:nvSpPr>
            <p:cNvPr id="335" name="Google Shape;335;p47"/>
            <p:cNvSpPr/>
            <p:nvPr/>
          </p:nvSpPr>
          <p:spPr>
            <a:xfrm>
              <a:off x="2789785" y="1323164"/>
              <a:ext cx="5221800" cy="7317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Alegreya"/>
                <a:ea typeface="Alegreya"/>
                <a:cs typeface="Alegreya"/>
                <a:sym typeface="Alegreya"/>
              </a:endParaRPr>
            </a:p>
          </p:txBody>
        </p:sp>
        <p:sp>
          <p:nvSpPr>
            <p:cNvPr id="336" name="Google Shape;336;p47"/>
            <p:cNvSpPr txBox="1"/>
            <p:nvPr/>
          </p:nvSpPr>
          <p:spPr>
            <a:xfrm>
              <a:off x="2914382" y="1407452"/>
              <a:ext cx="4999800" cy="5754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chemeClr val="lt1"/>
                  </a:solidFill>
                  <a:latin typeface="Alegreya"/>
                  <a:ea typeface="Alegreya"/>
                  <a:cs typeface="Alegreya"/>
                  <a:sym typeface="Alegreya"/>
                </a:rPr>
                <a:t>Can combine with Canary method</a:t>
              </a:r>
              <a:endParaRPr b="1" sz="3600">
                <a:solidFill>
                  <a:schemeClr val="lt1"/>
                </a:solidFill>
                <a:latin typeface="Alegreya"/>
                <a:ea typeface="Alegreya"/>
                <a:cs typeface="Alegreya"/>
                <a:sym typeface="Alegreya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What to Expect</a:t>
            </a:r>
            <a:endParaRPr/>
          </a:p>
        </p:txBody>
      </p:sp>
      <p:sp>
        <p:nvSpPr>
          <p:cNvPr id="342" name="Google Shape;342;p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Goal: to learn branching strategies, and the importance of code styling and quality.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How: in the lab we will explore the use of git branches along with common python libraries for checking code quality.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Code Versioning and Branching</a:t>
            </a:r>
            <a:endParaRPr/>
          </a:p>
        </p:txBody>
      </p:sp>
      <p:sp>
        <p:nvSpPr>
          <p:cNvPr id="348" name="Google Shape;348;p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We already know how to use git for version control</a:t>
            </a:r>
            <a:endParaRPr/>
          </a:p>
          <a:p>
            <a:pPr indent="-177800" lvl="1" marL="5207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And Github as a central code repository (along with other nice features).</a:t>
            </a:r>
            <a:endParaRPr/>
          </a:p>
          <a:p>
            <a:pPr indent="-63500" lvl="1" marL="5207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Branching is how you might collaborate with other team members on the same codebase, without stepping on each other’s toes</a:t>
            </a:r>
            <a:endParaRPr/>
          </a:p>
          <a:p>
            <a:pPr indent="-177800" lvl="1" marL="5207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Many branching strategies, will be team-dependent.</a:t>
            </a:r>
            <a:endParaRPr/>
          </a:p>
          <a:p>
            <a:pPr indent="-177800" lvl="1" marL="5207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Necessary when collaborating, not when working solo.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354" name="Google Shape;354;p50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0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356" name="Google Shape;356;p50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0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363" name="Google Shape;363;p51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51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365" name="Google Shape;365;p51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1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1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368" name="Google Shape;368;p51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51"/>
          <p:cNvSpPr txBox="1"/>
          <p:nvPr/>
        </p:nvSpPr>
        <p:spPr>
          <a:xfrm>
            <a:off x="2469444" y="1546665"/>
            <a:ext cx="2797800" cy="50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 commit –m ‘first commit’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375" name="Google Shape;375;p52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2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377" name="Google Shape;377;p52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52"/>
          <p:cNvCxnSpPr/>
          <p:nvPr/>
        </p:nvCxnSpPr>
        <p:spPr>
          <a:xfrm>
            <a:off x="1099184" y="2667000"/>
            <a:ext cx="501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52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52"/>
          <p:cNvCxnSpPr/>
          <p:nvPr/>
        </p:nvCxnSpPr>
        <p:spPr>
          <a:xfrm>
            <a:off x="1543193" y="2667000"/>
            <a:ext cx="773700" cy="655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1" name="Google Shape;381;p52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382" name="Google Shape;382;p52"/>
          <p:cNvSpPr txBox="1"/>
          <p:nvPr/>
        </p:nvSpPr>
        <p:spPr>
          <a:xfrm>
            <a:off x="1682337" y="3183821"/>
            <a:ext cx="39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sp>
        <p:nvSpPr>
          <p:cNvPr id="383" name="Google Shape;383;p52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52"/>
          <p:cNvSpPr txBox="1"/>
          <p:nvPr/>
        </p:nvSpPr>
        <p:spPr>
          <a:xfrm>
            <a:off x="2469444" y="1546665"/>
            <a:ext cx="1943100" cy="50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 checkout –b dev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390" name="Google Shape;390;p53"/>
          <p:cNvSpPr/>
          <p:nvPr/>
        </p:nvSpPr>
        <p:spPr>
          <a:xfrm>
            <a:off x="2442210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3"/>
          <p:cNvSpPr txBox="1"/>
          <p:nvPr/>
        </p:nvSpPr>
        <p:spPr>
          <a:xfrm>
            <a:off x="2541492" y="3684731"/>
            <a:ext cx="1341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</p:txBody>
      </p:sp>
      <p:sp>
        <p:nvSpPr>
          <p:cNvPr id="392" name="Google Shape;392;p53"/>
          <p:cNvSpPr txBox="1"/>
          <p:nvPr/>
        </p:nvSpPr>
        <p:spPr>
          <a:xfrm>
            <a:off x="2875057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53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3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395" name="Google Shape;395;p53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53"/>
          <p:cNvCxnSpPr/>
          <p:nvPr/>
        </p:nvCxnSpPr>
        <p:spPr>
          <a:xfrm>
            <a:off x="1099184" y="2667000"/>
            <a:ext cx="501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7" name="Google Shape;397;p53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53"/>
          <p:cNvCxnSpPr/>
          <p:nvPr/>
        </p:nvCxnSpPr>
        <p:spPr>
          <a:xfrm>
            <a:off x="2293620" y="3322320"/>
            <a:ext cx="944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" name="Google Shape;399;p53"/>
          <p:cNvCxnSpPr/>
          <p:nvPr/>
        </p:nvCxnSpPr>
        <p:spPr>
          <a:xfrm>
            <a:off x="1543193" y="2667000"/>
            <a:ext cx="773700" cy="655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0" name="Google Shape;400;p53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401" name="Google Shape;401;p53"/>
          <p:cNvSpPr txBox="1"/>
          <p:nvPr/>
        </p:nvSpPr>
        <p:spPr>
          <a:xfrm>
            <a:off x="1682337" y="3183821"/>
            <a:ext cx="39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sp>
        <p:nvSpPr>
          <p:cNvPr id="402" name="Google Shape;402;p53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408" name="Google Shape;408;p54"/>
          <p:cNvSpPr/>
          <p:nvPr/>
        </p:nvSpPr>
        <p:spPr>
          <a:xfrm>
            <a:off x="2442210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4"/>
          <p:cNvSpPr txBox="1"/>
          <p:nvPr/>
        </p:nvSpPr>
        <p:spPr>
          <a:xfrm>
            <a:off x="2541492" y="3684731"/>
            <a:ext cx="1341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</p:txBody>
      </p:sp>
      <p:sp>
        <p:nvSpPr>
          <p:cNvPr id="410" name="Google Shape;410;p54"/>
          <p:cNvSpPr txBox="1"/>
          <p:nvPr/>
        </p:nvSpPr>
        <p:spPr>
          <a:xfrm>
            <a:off x="2875057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4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4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13" name="Google Shape;413;p54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54"/>
          <p:cNvCxnSpPr/>
          <p:nvPr/>
        </p:nvCxnSpPr>
        <p:spPr>
          <a:xfrm>
            <a:off x="1099184" y="2667000"/>
            <a:ext cx="21588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5" name="Google Shape;415;p54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54"/>
          <p:cNvCxnSpPr>
            <a:endCxn id="417" idx="2"/>
          </p:cNvCxnSpPr>
          <p:nvPr/>
        </p:nvCxnSpPr>
        <p:spPr>
          <a:xfrm>
            <a:off x="2293523" y="3322305"/>
            <a:ext cx="820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7" name="Google Shape;417;p54"/>
          <p:cNvSpPr/>
          <p:nvPr/>
        </p:nvSpPr>
        <p:spPr>
          <a:xfrm>
            <a:off x="3113723" y="324040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8" name="Google Shape;418;p54"/>
          <p:cNvCxnSpPr/>
          <p:nvPr/>
        </p:nvCxnSpPr>
        <p:spPr>
          <a:xfrm>
            <a:off x="1543193" y="2667000"/>
            <a:ext cx="773700" cy="655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" name="Google Shape;419;p54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420" name="Google Shape;420;p54"/>
          <p:cNvSpPr txBox="1"/>
          <p:nvPr/>
        </p:nvSpPr>
        <p:spPr>
          <a:xfrm>
            <a:off x="1682337" y="3183821"/>
            <a:ext cx="39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sp>
        <p:nvSpPr>
          <p:cNvPr id="421" name="Google Shape;421;p54"/>
          <p:cNvSpPr/>
          <p:nvPr/>
        </p:nvSpPr>
        <p:spPr>
          <a:xfrm>
            <a:off x="3161824" y="3430452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4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4"/>
          <p:cNvSpPr txBox="1"/>
          <p:nvPr/>
        </p:nvSpPr>
        <p:spPr>
          <a:xfrm>
            <a:off x="2469444" y="1546665"/>
            <a:ext cx="2892900" cy="50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 commit –m ‘added library’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429" name="Google Shape;429;p55"/>
          <p:cNvSpPr/>
          <p:nvPr/>
        </p:nvSpPr>
        <p:spPr>
          <a:xfrm>
            <a:off x="2487930" y="1191592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5"/>
          <p:cNvSpPr txBox="1"/>
          <p:nvPr/>
        </p:nvSpPr>
        <p:spPr>
          <a:xfrm>
            <a:off x="2587212" y="1208588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31" name="Google Shape;431;p55"/>
          <p:cNvSpPr txBox="1"/>
          <p:nvPr/>
        </p:nvSpPr>
        <p:spPr>
          <a:xfrm>
            <a:off x="2920777" y="2185764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5"/>
          <p:cNvSpPr/>
          <p:nvPr/>
        </p:nvSpPr>
        <p:spPr>
          <a:xfrm>
            <a:off x="2442210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5"/>
          <p:cNvSpPr txBox="1"/>
          <p:nvPr/>
        </p:nvSpPr>
        <p:spPr>
          <a:xfrm>
            <a:off x="2541492" y="3684731"/>
            <a:ext cx="1341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</p:txBody>
      </p:sp>
      <p:sp>
        <p:nvSpPr>
          <p:cNvPr id="434" name="Google Shape;434;p55"/>
          <p:cNvSpPr txBox="1"/>
          <p:nvPr/>
        </p:nvSpPr>
        <p:spPr>
          <a:xfrm>
            <a:off x="2875057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5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5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37" name="Google Shape;437;p55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55"/>
          <p:cNvCxnSpPr/>
          <p:nvPr/>
        </p:nvCxnSpPr>
        <p:spPr>
          <a:xfrm>
            <a:off x="1099184" y="2667000"/>
            <a:ext cx="21108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9" name="Google Shape;439;p55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55"/>
          <p:cNvCxnSpPr>
            <a:endCxn id="441" idx="2"/>
          </p:cNvCxnSpPr>
          <p:nvPr/>
        </p:nvCxnSpPr>
        <p:spPr>
          <a:xfrm>
            <a:off x="2293523" y="3322305"/>
            <a:ext cx="820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1" name="Google Shape;441;p55"/>
          <p:cNvSpPr/>
          <p:nvPr/>
        </p:nvSpPr>
        <p:spPr>
          <a:xfrm>
            <a:off x="3113723" y="324040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55"/>
          <p:cNvCxnSpPr/>
          <p:nvPr/>
        </p:nvCxnSpPr>
        <p:spPr>
          <a:xfrm>
            <a:off x="1543193" y="2667000"/>
            <a:ext cx="773700" cy="655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3" name="Google Shape;443;p55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444" name="Google Shape;444;p55"/>
          <p:cNvSpPr txBox="1"/>
          <p:nvPr/>
        </p:nvSpPr>
        <p:spPr>
          <a:xfrm>
            <a:off x="1682337" y="3183821"/>
            <a:ext cx="39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445" name="Google Shape;445;p55"/>
          <p:cNvCxnSpPr/>
          <p:nvPr/>
        </p:nvCxnSpPr>
        <p:spPr>
          <a:xfrm rot="10800000">
            <a:off x="3209925" y="2748821"/>
            <a:ext cx="0" cy="435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446" name="Google Shape;446;p55"/>
          <p:cNvSpPr/>
          <p:nvPr/>
        </p:nvSpPr>
        <p:spPr>
          <a:xfrm>
            <a:off x="3161824" y="3430452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5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453" name="Google Shape;453;p56"/>
          <p:cNvSpPr/>
          <p:nvPr/>
        </p:nvSpPr>
        <p:spPr>
          <a:xfrm>
            <a:off x="2487930" y="1191592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6"/>
          <p:cNvSpPr txBox="1"/>
          <p:nvPr/>
        </p:nvSpPr>
        <p:spPr>
          <a:xfrm>
            <a:off x="2587212" y="1208588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55" name="Google Shape;455;p56"/>
          <p:cNvSpPr txBox="1"/>
          <p:nvPr/>
        </p:nvSpPr>
        <p:spPr>
          <a:xfrm>
            <a:off x="2920777" y="2185764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6"/>
          <p:cNvSpPr/>
          <p:nvPr/>
        </p:nvSpPr>
        <p:spPr>
          <a:xfrm>
            <a:off x="2442210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6"/>
          <p:cNvSpPr txBox="1"/>
          <p:nvPr/>
        </p:nvSpPr>
        <p:spPr>
          <a:xfrm>
            <a:off x="2541492" y="3684731"/>
            <a:ext cx="1341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</p:txBody>
      </p:sp>
      <p:sp>
        <p:nvSpPr>
          <p:cNvPr id="458" name="Google Shape;458;p56"/>
          <p:cNvSpPr txBox="1"/>
          <p:nvPr/>
        </p:nvSpPr>
        <p:spPr>
          <a:xfrm>
            <a:off x="2875057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6"/>
          <p:cNvSpPr/>
          <p:nvPr/>
        </p:nvSpPr>
        <p:spPr>
          <a:xfrm>
            <a:off x="4316101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6"/>
          <p:cNvSpPr txBox="1"/>
          <p:nvPr/>
        </p:nvSpPr>
        <p:spPr>
          <a:xfrm>
            <a:off x="4415383" y="3684731"/>
            <a:ext cx="1341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1100"/>
          </a:p>
        </p:txBody>
      </p:sp>
      <p:sp>
        <p:nvSpPr>
          <p:cNvPr id="461" name="Google Shape;461;p56"/>
          <p:cNvSpPr txBox="1"/>
          <p:nvPr/>
        </p:nvSpPr>
        <p:spPr>
          <a:xfrm>
            <a:off x="4748948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6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6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64" name="Google Shape;464;p56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56"/>
          <p:cNvCxnSpPr/>
          <p:nvPr/>
        </p:nvCxnSpPr>
        <p:spPr>
          <a:xfrm>
            <a:off x="1099184" y="2667000"/>
            <a:ext cx="21108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56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56"/>
          <p:cNvCxnSpPr/>
          <p:nvPr/>
        </p:nvCxnSpPr>
        <p:spPr>
          <a:xfrm>
            <a:off x="2293620" y="3322320"/>
            <a:ext cx="27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8" name="Google Shape;468;p56"/>
          <p:cNvSpPr/>
          <p:nvPr/>
        </p:nvSpPr>
        <p:spPr>
          <a:xfrm>
            <a:off x="3113723" y="324040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56"/>
          <p:cNvCxnSpPr/>
          <p:nvPr/>
        </p:nvCxnSpPr>
        <p:spPr>
          <a:xfrm>
            <a:off x="1543193" y="2667000"/>
            <a:ext cx="773700" cy="655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56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471" name="Google Shape;471;p56"/>
          <p:cNvSpPr txBox="1"/>
          <p:nvPr/>
        </p:nvSpPr>
        <p:spPr>
          <a:xfrm>
            <a:off x="1682337" y="3183821"/>
            <a:ext cx="39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472" name="Google Shape;472;p56"/>
          <p:cNvCxnSpPr/>
          <p:nvPr/>
        </p:nvCxnSpPr>
        <p:spPr>
          <a:xfrm rot="10800000">
            <a:off x="3209925" y="2748821"/>
            <a:ext cx="0" cy="435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473" name="Google Shape;473;p56"/>
          <p:cNvSpPr/>
          <p:nvPr/>
        </p:nvSpPr>
        <p:spPr>
          <a:xfrm>
            <a:off x="3161824" y="3430452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6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480" name="Google Shape;480;p57"/>
          <p:cNvSpPr/>
          <p:nvPr/>
        </p:nvSpPr>
        <p:spPr>
          <a:xfrm>
            <a:off x="2487930" y="1191592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7"/>
          <p:cNvSpPr txBox="1"/>
          <p:nvPr/>
        </p:nvSpPr>
        <p:spPr>
          <a:xfrm>
            <a:off x="2587212" y="1208588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82" name="Google Shape;482;p57"/>
          <p:cNvSpPr txBox="1"/>
          <p:nvPr/>
        </p:nvSpPr>
        <p:spPr>
          <a:xfrm>
            <a:off x="2920777" y="2185764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7"/>
          <p:cNvSpPr/>
          <p:nvPr/>
        </p:nvSpPr>
        <p:spPr>
          <a:xfrm>
            <a:off x="2442210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7"/>
          <p:cNvSpPr txBox="1"/>
          <p:nvPr/>
        </p:nvSpPr>
        <p:spPr>
          <a:xfrm>
            <a:off x="2541492" y="3684731"/>
            <a:ext cx="1341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</p:txBody>
      </p:sp>
      <p:sp>
        <p:nvSpPr>
          <p:cNvPr id="485" name="Google Shape;485;p57"/>
          <p:cNvSpPr txBox="1"/>
          <p:nvPr/>
        </p:nvSpPr>
        <p:spPr>
          <a:xfrm>
            <a:off x="2875057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7"/>
          <p:cNvSpPr/>
          <p:nvPr/>
        </p:nvSpPr>
        <p:spPr>
          <a:xfrm>
            <a:off x="4316101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7"/>
          <p:cNvSpPr txBox="1"/>
          <p:nvPr/>
        </p:nvSpPr>
        <p:spPr>
          <a:xfrm>
            <a:off x="4415383" y="3684731"/>
            <a:ext cx="1341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1100"/>
          </a:p>
        </p:txBody>
      </p:sp>
      <p:sp>
        <p:nvSpPr>
          <p:cNvPr id="488" name="Google Shape;488;p57"/>
          <p:cNvSpPr txBox="1"/>
          <p:nvPr/>
        </p:nvSpPr>
        <p:spPr>
          <a:xfrm>
            <a:off x="4748948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7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7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91" name="Google Shape;491;p57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7"/>
          <p:cNvSpPr/>
          <p:nvPr/>
        </p:nvSpPr>
        <p:spPr>
          <a:xfrm>
            <a:off x="4361821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7"/>
          <p:cNvSpPr txBox="1"/>
          <p:nvPr/>
        </p:nvSpPr>
        <p:spPr>
          <a:xfrm>
            <a:off x="4461103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494" name="Google Shape;494;p57"/>
          <p:cNvSpPr txBox="1"/>
          <p:nvPr/>
        </p:nvSpPr>
        <p:spPr>
          <a:xfrm>
            <a:off x="4794668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57"/>
          <p:cNvCxnSpPr/>
          <p:nvPr/>
        </p:nvCxnSpPr>
        <p:spPr>
          <a:xfrm>
            <a:off x="1099184" y="2667000"/>
            <a:ext cx="39846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6" name="Google Shape;496;p57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p57"/>
          <p:cNvCxnSpPr/>
          <p:nvPr/>
        </p:nvCxnSpPr>
        <p:spPr>
          <a:xfrm>
            <a:off x="2293620" y="3322320"/>
            <a:ext cx="27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8" name="Google Shape;498;p57"/>
          <p:cNvSpPr/>
          <p:nvPr/>
        </p:nvSpPr>
        <p:spPr>
          <a:xfrm>
            <a:off x="3113723" y="324040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7"/>
          <p:cNvSpPr/>
          <p:nvPr/>
        </p:nvSpPr>
        <p:spPr>
          <a:xfrm>
            <a:off x="4987613" y="324040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57"/>
          <p:cNvCxnSpPr/>
          <p:nvPr/>
        </p:nvCxnSpPr>
        <p:spPr>
          <a:xfrm>
            <a:off x="1543193" y="2667000"/>
            <a:ext cx="773700" cy="655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1" name="Google Shape;501;p57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502" name="Google Shape;502;p57"/>
          <p:cNvSpPr txBox="1"/>
          <p:nvPr/>
        </p:nvSpPr>
        <p:spPr>
          <a:xfrm>
            <a:off x="1682337" y="3183821"/>
            <a:ext cx="39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503" name="Google Shape;503;p57"/>
          <p:cNvCxnSpPr/>
          <p:nvPr/>
        </p:nvCxnSpPr>
        <p:spPr>
          <a:xfrm rot="10800000">
            <a:off x="3209925" y="2748821"/>
            <a:ext cx="0" cy="435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504" name="Google Shape;504;p57"/>
          <p:cNvCxnSpPr/>
          <p:nvPr/>
        </p:nvCxnSpPr>
        <p:spPr>
          <a:xfrm rot="10800000">
            <a:off x="5085721" y="2748821"/>
            <a:ext cx="0" cy="435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505" name="Google Shape;505;p57"/>
          <p:cNvSpPr/>
          <p:nvPr/>
        </p:nvSpPr>
        <p:spPr>
          <a:xfrm>
            <a:off x="3161824" y="3430452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7"/>
          <p:cNvSpPr/>
          <p:nvPr/>
        </p:nvSpPr>
        <p:spPr>
          <a:xfrm>
            <a:off x="5035715" y="3430452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7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513" name="Google Shape;513;p58"/>
          <p:cNvSpPr/>
          <p:nvPr/>
        </p:nvSpPr>
        <p:spPr>
          <a:xfrm>
            <a:off x="2487930" y="1191592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8"/>
          <p:cNvSpPr txBox="1"/>
          <p:nvPr/>
        </p:nvSpPr>
        <p:spPr>
          <a:xfrm>
            <a:off x="2587212" y="1208588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515" name="Google Shape;515;p58"/>
          <p:cNvSpPr txBox="1"/>
          <p:nvPr/>
        </p:nvSpPr>
        <p:spPr>
          <a:xfrm>
            <a:off x="2920777" y="2185764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8"/>
          <p:cNvSpPr/>
          <p:nvPr/>
        </p:nvSpPr>
        <p:spPr>
          <a:xfrm>
            <a:off x="2442210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58"/>
          <p:cNvSpPr txBox="1"/>
          <p:nvPr/>
        </p:nvSpPr>
        <p:spPr>
          <a:xfrm>
            <a:off x="2541492" y="3684731"/>
            <a:ext cx="1341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</p:txBody>
      </p:sp>
      <p:sp>
        <p:nvSpPr>
          <p:cNvPr id="518" name="Google Shape;518;p58"/>
          <p:cNvSpPr txBox="1"/>
          <p:nvPr/>
        </p:nvSpPr>
        <p:spPr>
          <a:xfrm>
            <a:off x="2875057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8"/>
          <p:cNvSpPr/>
          <p:nvPr/>
        </p:nvSpPr>
        <p:spPr>
          <a:xfrm>
            <a:off x="4316101" y="3667735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DDEA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8"/>
          <p:cNvSpPr txBox="1"/>
          <p:nvPr/>
        </p:nvSpPr>
        <p:spPr>
          <a:xfrm>
            <a:off x="4415383" y="3684731"/>
            <a:ext cx="1341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1100"/>
          </a:p>
        </p:txBody>
      </p:sp>
      <p:sp>
        <p:nvSpPr>
          <p:cNvPr id="521" name="Google Shape;521;p58"/>
          <p:cNvSpPr txBox="1"/>
          <p:nvPr/>
        </p:nvSpPr>
        <p:spPr>
          <a:xfrm>
            <a:off x="4748948" y="4661907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8"/>
          <p:cNvSpPr/>
          <p:nvPr/>
        </p:nvSpPr>
        <p:spPr>
          <a:xfrm>
            <a:off x="483870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8"/>
          <p:cNvSpPr txBox="1"/>
          <p:nvPr/>
        </p:nvSpPr>
        <p:spPr>
          <a:xfrm>
            <a:off x="583152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524" name="Google Shape;524;p58"/>
          <p:cNvSpPr txBox="1"/>
          <p:nvPr/>
        </p:nvSpPr>
        <p:spPr>
          <a:xfrm>
            <a:off x="916717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8"/>
          <p:cNvSpPr/>
          <p:nvPr/>
        </p:nvSpPr>
        <p:spPr>
          <a:xfrm>
            <a:off x="4361821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8"/>
          <p:cNvSpPr txBox="1"/>
          <p:nvPr/>
        </p:nvSpPr>
        <p:spPr>
          <a:xfrm>
            <a:off x="4461103" y="1205075"/>
            <a:ext cx="1341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</p:txBody>
      </p:sp>
      <p:sp>
        <p:nvSpPr>
          <p:cNvPr id="527" name="Google Shape;527;p58"/>
          <p:cNvSpPr txBox="1"/>
          <p:nvPr/>
        </p:nvSpPr>
        <p:spPr>
          <a:xfrm>
            <a:off x="4794668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58"/>
          <p:cNvSpPr/>
          <p:nvPr/>
        </p:nvSpPr>
        <p:spPr>
          <a:xfrm>
            <a:off x="6815345" y="1188079"/>
            <a:ext cx="1535400" cy="994200"/>
          </a:xfrm>
          <a:prstGeom prst="foldedCorner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8"/>
          <p:cNvSpPr txBox="1"/>
          <p:nvPr/>
        </p:nvSpPr>
        <p:spPr>
          <a:xfrm>
            <a:off x="6914627" y="1205075"/>
            <a:ext cx="1341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script for doing stuff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1100"/>
          </a:p>
        </p:txBody>
      </p:sp>
      <p:sp>
        <p:nvSpPr>
          <p:cNvPr id="530" name="Google Shape;530;p58"/>
          <p:cNvSpPr txBox="1"/>
          <p:nvPr/>
        </p:nvSpPr>
        <p:spPr>
          <a:xfrm>
            <a:off x="7248191" y="2182251"/>
            <a:ext cx="45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58"/>
          <p:cNvCxnSpPr/>
          <p:nvPr/>
        </p:nvCxnSpPr>
        <p:spPr>
          <a:xfrm>
            <a:off x="1099184" y="2667000"/>
            <a:ext cx="6438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2" name="Google Shape;532;p58"/>
          <p:cNvSpPr/>
          <p:nvPr/>
        </p:nvSpPr>
        <p:spPr>
          <a:xfrm>
            <a:off x="1002982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8"/>
          <p:cNvSpPr/>
          <p:nvPr/>
        </p:nvSpPr>
        <p:spPr>
          <a:xfrm>
            <a:off x="7466441" y="258508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4" name="Google Shape;534;p58"/>
          <p:cNvCxnSpPr/>
          <p:nvPr/>
        </p:nvCxnSpPr>
        <p:spPr>
          <a:xfrm>
            <a:off x="2293620" y="3322320"/>
            <a:ext cx="27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5" name="Google Shape;535;p58"/>
          <p:cNvSpPr/>
          <p:nvPr/>
        </p:nvSpPr>
        <p:spPr>
          <a:xfrm>
            <a:off x="3113723" y="324040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8"/>
          <p:cNvSpPr/>
          <p:nvPr/>
        </p:nvSpPr>
        <p:spPr>
          <a:xfrm>
            <a:off x="4987613" y="3240405"/>
            <a:ext cx="192300" cy="163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58"/>
          <p:cNvCxnSpPr/>
          <p:nvPr/>
        </p:nvCxnSpPr>
        <p:spPr>
          <a:xfrm>
            <a:off x="1543193" y="2667000"/>
            <a:ext cx="773700" cy="655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8" name="Google Shape;538;p58"/>
          <p:cNvCxnSpPr>
            <a:stCxn id="533" idx="4"/>
            <a:endCxn id="536" idx="6"/>
          </p:cNvCxnSpPr>
          <p:nvPr/>
        </p:nvCxnSpPr>
        <p:spPr>
          <a:xfrm rot="5400000">
            <a:off x="6084641" y="1844235"/>
            <a:ext cx="573300" cy="2382600"/>
          </a:xfrm>
          <a:prstGeom prst="curvedConnector2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9" name="Google Shape;539;p58"/>
          <p:cNvSpPr txBox="1"/>
          <p:nvPr/>
        </p:nvSpPr>
        <p:spPr>
          <a:xfrm>
            <a:off x="569300" y="2528501"/>
            <a:ext cx="49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540" name="Google Shape;540;p58"/>
          <p:cNvSpPr txBox="1"/>
          <p:nvPr/>
        </p:nvSpPr>
        <p:spPr>
          <a:xfrm>
            <a:off x="1682337" y="3183821"/>
            <a:ext cx="39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541" name="Google Shape;541;p58"/>
          <p:cNvCxnSpPr/>
          <p:nvPr/>
        </p:nvCxnSpPr>
        <p:spPr>
          <a:xfrm rot="10800000">
            <a:off x="3209925" y="2748821"/>
            <a:ext cx="0" cy="435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542" name="Google Shape;542;p58"/>
          <p:cNvCxnSpPr/>
          <p:nvPr/>
        </p:nvCxnSpPr>
        <p:spPr>
          <a:xfrm rot="10800000">
            <a:off x="5085721" y="2748821"/>
            <a:ext cx="0" cy="435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543" name="Google Shape;543;p58"/>
          <p:cNvSpPr/>
          <p:nvPr/>
        </p:nvSpPr>
        <p:spPr>
          <a:xfrm>
            <a:off x="3161824" y="3430452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8"/>
          <p:cNvSpPr/>
          <p:nvPr/>
        </p:nvSpPr>
        <p:spPr>
          <a:xfrm>
            <a:off x="5035715" y="3430452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8"/>
          <p:cNvSpPr/>
          <p:nvPr/>
        </p:nvSpPr>
        <p:spPr>
          <a:xfrm rot="10800000">
            <a:off x="1059962" y="2364750"/>
            <a:ext cx="96300" cy="20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8"/>
          <p:cNvSpPr/>
          <p:nvPr/>
        </p:nvSpPr>
        <p:spPr>
          <a:xfrm rot="-7002549">
            <a:off x="7443926" y="3058761"/>
            <a:ext cx="693496" cy="220298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E27CA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7248191" y="3533909"/>
            <a:ext cx="1779900" cy="500100"/>
          </a:xfrm>
          <a:prstGeom prst="rect">
            <a:avLst/>
          </a:prstGeom>
          <a:solidFill>
            <a:srgbClr val="E37DA8">
              <a:alpha val="5059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Merge or pull request!!</a:t>
            </a:r>
            <a:endParaRPr sz="1100"/>
          </a:p>
        </p:txBody>
      </p:sp>
      <p:sp>
        <p:nvSpPr>
          <p:cNvPr id="548" name="Google Shape;548;p58"/>
          <p:cNvSpPr txBox="1"/>
          <p:nvPr/>
        </p:nvSpPr>
        <p:spPr>
          <a:xfrm>
            <a:off x="6189992" y="3957279"/>
            <a:ext cx="1753200" cy="136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 checkout main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 merge dev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git branch –d dev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 Strategies</a:t>
            </a:r>
            <a:endParaRPr/>
          </a:p>
        </p:txBody>
      </p:sp>
      <p:cxnSp>
        <p:nvCxnSpPr>
          <p:cNvPr id="554" name="Google Shape;554;p59"/>
          <p:cNvCxnSpPr/>
          <p:nvPr/>
        </p:nvCxnSpPr>
        <p:spPr>
          <a:xfrm>
            <a:off x="6886373" y="138325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5" name="Google Shape;555;p59"/>
          <p:cNvCxnSpPr/>
          <p:nvPr/>
        </p:nvCxnSpPr>
        <p:spPr>
          <a:xfrm>
            <a:off x="6468416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p59"/>
          <p:cNvSpPr txBox="1"/>
          <p:nvPr/>
        </p:nvSpPr>
        <p:spPr>
          <a:xfrm>
            <a:off x="7732737" y="4078251"/>
            <a:ext cx="483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 1.0</a:t>
            </a:r>
            <a:endParaRPr sz="1100"/>
          </a:p>
        </p:txBody>
      </p:sp>
      <p:sp>
        <p:nvSpPr>
          <p:cNvPr id="557" name="Google Shape;557;p59"/>
          <p:cNvSpPr txBox="1"/>
          <p:nvPr/>
        </p:nvSpPr>
        <p:spPr>
          <a:xfrm>
            <a:off x="6267583" y="4074084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558" name="Google Shape;558;p59"/>
          <p:cNvSpPr txBox="1"/>
          <p:nvPr/>
        </p:nvSpPr>
        <p:spPr>
          <a:xfrm>
            <a:off x="6732989" y="4085559"/>
            <a:ext cx="337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559" name="Google Shape;559;p59"/>
          <p:cNvCxnSpPr/>
          <p:nvPr/>
        </p:nvCxnSpPr>
        <p:spPr>
          <a:xfrm>
            <a:off x="830527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0" name="Google Shape;560;p59"/>
          <p:cNvSpPr txBox="1"/>
          <p:nvPr/>
        </p:nvSpPr>
        <p:spPr>
          <a:xfrm>
            <a:off x="605585" y="4084940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cxnSp>
        <p:nvCxnSpPr>
          <p:cNvPr id="561" name="Google Shape;561;p59"/>
          <p:cNvCxnSpPr>
            <a:endCxn id="562" idx="6"/>
          </p:cNvCxnSpPr>
          <p:nvPr/>
        </p:nvCxnSpPr>
        <p:spPr>
          <a:xfrm rot="10800000">
            <a:off x="6964685" y="1857909"/>
            <a:ext cx="908100" cy="15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3" name="Google Shape;563;p59"/>
          <p:cNvCxnSpPr/>
          <p:nvPr/>
        </p:nvCxnSpPr>
        <p:spPr>
          <a:xfrm>
            <a:off x="7879724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4" name="Google Shape;564;p59"/>
          <p:cNvSpPr/>
          <p:nvPr/>
        </p:nvSpPr>
        <p:spPr>
          <a:xfrm>
            <a:off x="6398110" y="157607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9"/>
          <p:cNvSpPr/>
          <p:nvPr/>
        </p:nvSpPr>
        <p:spPr>
          <a:xfrm flipH="1">
            <a:off x="843939" y="3043826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6" name="Google Shape;566;p59"/>
          <p:cNvCxnSpPr/>
          <p:nvPr/>
        </p:nvCxnSpPr>
        <p:spPr>
          <a:xfrm>
            <a:off x="115473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567" name="Google Shape;567;p59"/>
          <p:cNvSpPr/>
          <p:nvPr/>
        </p:nvSpPr>
        <p:spPr>
          <a:xfrm>
            <a:off x="1097067" y="348023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9"/>
          <p:cNvSpPr/>
          <p:nvPr/>
        </p:nvSpPr>
        <p:spPr>
          <a:xfrm>
            <a:off x="1089911" y="3215863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9"/>
          <p:cNvSpPr/>
          <p:nvPr/>
        </p:nvSpPr>
        <p:spPr>
          <a:xfrm>
            <a:off x="767371" y="298903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59"/>
          <p:cNvCxnSpPr/>
          <p:nvPr/>
        </p:nvCxnSpPr>
        <p:spPr>
          <a:xfrm>
            <a:off x="142905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571" name="Google Shape;571;p59"/>
          <p:cNvSpPr/>
          <p:nvPr/>
        </p:nvSpPr>
        <p:spPr>
          <a:xfrm flipH="1">
            <a:off x="843755" y="1971377"/>
            <a:ext cx="585300" cy="815400"/>
          </a:xfrm>
          <a:prstGeom prst="leftBracket">
            <a:avLst>
              <a:gd fmla="val 33061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9"/>
          <p:cNvSpPr/>
          <p:nvPr/>
        </p:nvSpPr>
        <p:spPr>
          <a:xfrm>
            <a:off x="1358066" y="242540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9"/>
          <p:cNvSpPr/>
          <p:nvPr/>
        </p:nvSpPr>
        <p:spPr>
          <a:xfrm>
            <a:off x="767371" y="191658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9"/>
          <p:cNvSpPr/>
          <p:nvPr/>
        </p:nvSpPr>
        <p:spPr>
          <a:xfrm>
            <a:off x="1358066" y="2210439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59"/>
          <p:cNvCxnSpPr/>
          <p:nvPr/>
        </p:nvCxnSpPr>
        <p:spPr>
          <a:xfrm>
            <a:off x="4101123" y="136078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6" name="Google Shape;576;p59"/>
          <p:cNvSpPr txBox="1"/>
          <p:nvPr/>
        </p:nvSpPr>
        <p:spPr>
          <a:xfrm>
            <a:off x="3811937" y="4064772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577" name="Google Shape;577;p59"/>
          <p:cNvSpPr/>
          <p:nvPr/>
        </p:nvSpPr>
        <p:spPr>
          <a:xfrm>
            <a:off x="4030817" y="36275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59"/>
          <p:cNvSpPr/>
          <p:nvPr/>
        </p:nvSpPr>
        <p:spPr>
          <a:xfrm>
            <a:off x="4032074" y="2826045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9"/>
          <p:cNvSpPr/>
          <p:nvPr/>
        </p:nvSpPr>
        <p:spPr>
          <a:xfrm>
            <a:off x="4025208" y="2542673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9"/>
          <p:cNvSpPr/>
          <p:nvPr/>
        </p:nvSpPr>
        <p:spPr>
          <a:xfrm>
            <a:off x="4030817" y="33392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9"/>
          <p:cNvSpPr/>
          <p:nvPr/>
        </p:nvSpPr>
        <p:spPr>
          <a:xfrm>
            <a:off x="4033640" y="2323157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9"/>
          <p:cNvSpPr/>
          <p:nvPr/>
        </p:nvSpPr>
        <p:spPr>
          <a:xfrm>
            <a:off x="4030817" y="199009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59"/>
          <p:cNvCxnSpPr/>
          <p:nvPr/>
        </p:nvCxnSpPr>
        <p:spPr>
          <a:xfrm>
            <a:off x="7218502" y="1428252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84" name="Google Shape;584;p59"/>
          <p:cNvCxnSpPr/>
          <p:nvPr/>
        </p:nvCxnSpPr>
        <p:spPr>
          <a:xfrm>
            <a:off x="7469263" y="1437564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585" name="Google Shape;585;p59"/>
          <p:cNvSpPr/>
          <p:nvPr/>
        </p:nvSpPr>
        <p:spPr>
          <a:xfrm flipH="1">
            <a:off x="6903556" y="2846723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9"/>
          <p:cNvSpPr/>
          <p:nvPr/>
        </p:nvSpPr>
        <p:spPr>
          <a:xfrm>
            <a:off x="7148198" y="3335575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9"/>
          <p:cNvSpPr/>
          <p:nvPr/>
        </p:nvSpPr>
        <p:spPr>
          <a:xfrm>
            <a:off x="7140824" y="3008048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9"/>
          <p:cNvSpPr txBox="1"/>
          <p:nvPr/>
        </p:nvSpPr>
        <p:spPr>
          <a:xfrm>
            <a:off x="524990" y="4644693"/>
            <a:ext cx="10110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Flow</a:t>
            </a:r>
            <a:endParaRPr sz="1100"/>
          </a:p>
        </p:txBody>
      </p:sp>
      <p:sp>
        <p:nvSpPr>
          <p:cNvPr id="589" name="Google Shape;589;p59"/>
          <p:cNvSpPr txBox="1"/>
          <p:nvPr/>
        </p:nvSpPr>
        <p:spPr>
          <a:xfrm>
            <a:off x="3153811" y="4641186"/>
            <a:ext cx="20241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Trunk-based Development</a:t>
            </a:r>
            <a:endParaRPr sz="1100"/>
          </a:p>
        </p:txBody>
      </p:sp>
      <p:sp>
        <p:nvSpPr>
          <p:cNvPr id="590" name="Google Shape;590;p59"/>
          <p:cNvSpPr txBox="1"/>
          <p:nvPr/>
        </p:nvSpPr>
        <p:spPr>
          <a:xfrm>
            <a:off x="6638835" y="4637271"/>
            <a:ext cx="6936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GitFlow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59"/>
          <p:cNvCxnSpPr>
            <a:endCxn id="592" idx="2"/>
          </p:cNvCxnSpPr>
          <p:nvPr/>
        </p:nvCxnSpPr>
        <p:spPr>
          <a:xfrm flipH="1" rot="10800000">
            <a:off x="6886346" y="2283638"/>
            <a:ext cx="930000" cy="39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3" name="Google Shape;593;p59"/>
          <p:cNvCxnSpPr>
            <a:endCxn id="564" idx="6"/>
          </p:cNvCxnSpPr>
          <p:nvPr/>
        </p:nvCxnSpPr>
        <p:spPr>
          <a:xfrm rot="10800000">
            <a:off x="6538810" y="1649270"/>
            <a:ext cx="1333800" cy="24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4" name="Google Shape;594;p59"/>
          <p:cNvSpPr/>
          <p:nvPr/>
        </p:nvSpPr>
        <p:spPr>
          <a:xfrm>
            <a:off x="6823985" y="2786717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9"/>
          <p:cNvSpPr/>
          <p:nvPr/>
        </p:nvSpPr>
        <p:spPr>
          <a:xfrm>
            <a:off x="6823985" y="1784709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9"/>
          <p:cNvSpPr/>
          <p:nvPr/>
        </p:nvSpPr>
        <p:spPr>
          <a:xfrm>
            <a:off x="7816346" y="2210438"/>
            <a:ext cx="140700" cy="14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 Strategies</a:t>
            </a:r>
            <a:endParaRPr/>
          </a:p>
        </p:txBody>
      </p:sp>
      <p:cxnSp>
        <p:nvCxnSpPr>
          <p:cNvPr id="600" name="Google Shape;600;p60"/>
          <p:cNvCxnSpPr/>
          <p:nvPr/>
        </p:nvCxnSpPr>
        <p:spPr>
          <a:xfrm>
            <a:off x="6886373" y="138325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1" name="Google Shape;601;p60"/>
          <p:cNvCxnSpPr/>
          <p:nvPr/>
        </p:nvCxnSpPr>
        <p:spPr>
          <a:xfrm>
            <a:off x="6468416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2" name="Google Shape;602;p60"/>
          <p:cNvSpPr txBox="1"/>
          <p:nvPr/>
        </p:nvSpPr>
        <p:spPr>
          <a:xfrm>
            <a:off x="7732737" y="4078251"/>
            <a:ext cx="483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 1.0</a:t>
            </a:r>
            <a:endParaRPr sz="1100"/>
          </a:p>
        </p:txBody>
      </p:sp>
      <p:sp>
        <p:nvSpPr>
          <p:cNvPr id="603" name="Google Shape;603;p60"/>
          <p:cNvSpPr txBox="1"/>
          <p:nvPr/>
        </p:nvSpPr>
        <p:spPr>
          <a:xfrm>
            <a:off x="6267583" y="4074084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604" name="Google Shape;604;p60"/>
          <p:cNvSpPr txBox="1"/>
          <p:nvPr/>
        </p:nvSpPr>
        <p:spPr>
          <a:xfrm>
            <a:off x="6732989" y="4085559"/>
            <a:ext cx="337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605" name="Google Shape;605;p60"/>
          <p:cNvCxnSpPr/>
          <p:nvPr/>
        </p:nvCxnSpPr>
        <p:spPr>
          <a:xfrm>
            <a:off x="830527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6" name="Google Shape;606;p60"/>
          <p:cNvSpPr txBox="1"/>
          <p:nvPr/>
        </p:nvSpPr>
        <p:spPr>
          <a:xfrm>
            <a:off x="605585" y="4084940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cxnSp>
        <p:nvCxnSpPr>
          <p:cNvPr id="607" name="Google Shape;607;p60"/>
          <p:cNvCxnSpPr>
            <a:endCxn id="608" idx="6"/>
          </p:cNvCxnSpPr>
          <p:nvPr/>
        </p:nvCxnSpPr>
        <p:spPr>
          <a:xfrm rot="10800000">
            <a:off x="6964685" y="1857909"/>
            <a:ext cx="908100" cy="15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09" name="Google Shape;609;p60"/>
          <p:cNvCxnSpPr/>
          <p:nvPr/>
        </p:nvCxnSpPr>
        <p:spPr>
          <a:xfrm>
            <a:off x="7879724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0" name="Google Shape;610;p60"/>
          <p:cNvSpPr/>
          <p:nvPr/>
        </p:nvSpPr>
        <p:spPr>
          <a:xfrm>
            <a:off x="6398110" y="157607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0"/>
          <p:cNvSpPr/>
          <p:nvPr/>
        </p:nvSpPr>
        <p:spPr>
          <a:xfrm flipH="1">
            <a:off x="843939" y="3043826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2" name="Google Shape;612;p60"/>
          <p:cNvCxnSpPr/>
          <p:nvPr/>
        </p:nvCxnSpPr>
        <p:spPr>
          <a:xfrm>
            <a:off x="115473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13" name="Google Shape;613;p60"/>
          <p:cNvSpPr/>
          <p:nvPr/>
        </p:nvSpPr>
        <p:spPr>
          <a:xfrm>
            <a:off x="1097067" y="348023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0"/>
          <p:cNvSpPr/>
          <p:nvPr/>
        </p:nvSpPr>
        <p:spPr>
          <a:xfrm>
            <a:off x="1089911" y="3215863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0"/>
          <p:cNvSpPr/>
          <p:nvPr/>
        </p:nvSpPr>
        <p:spPr>
          <a:xfrm>
            <a:off x="767371" y="298903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60"/>
          <p:cNvCxnSpPr/>
          <p:nvPr/>
        </p:nvCxnSpPr>
        <p:spPr>
          <a:xfrm>
            <a:off x="142905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17" name="Google Shape;617;p60"/>
          <p:cNvSpPr/>
          <p:nvPr/>
        </p:nvSpPr>
        <p:spPr>
          <a:xfrm flipH="1">
            <a:off x="843755" y="1971377"/>
            <a:ext cx="585300" cy="815400"/>
          </a:xfrm>
          <a:prstGeom prst="leftBracket">
            <a:avLst>
              <a:gd fmla="val 33061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60"/>
          <p:cNvSpPr/>
          <p:nvPr/>
        </p:nvSpPr>
        <p:spPr>
          <a:xfrm>
            <a:off x="1358066" y="242540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0"/>
          <p:cNvSpPr/>
          <p:nvPr/>
        </p:nvSpPr>
        <p:spPr>
          <a:xfrm>
            <a:off x="767371" y="191658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0"/>
          <p:cNvSpPr/>
          <p:nvPr/>
        </p:nvSpPr>
        <p:spPr>
          <a:xfrm>
            <a:off x="1358066" y="2210439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60"/>
          <p:cNvCxnSpPr/>
          <p:nvPr/>
        </p:nvCxnSpPr>
        <p:spPr>
          <a:xfrm>
            <a:off x="4101123" y="136078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2" name="Google Shape;622;p60"/>
          <p:cNvSpPr txBox="1"/>
          <p:nvPr/>
        </p:nvSpPr>
        <p:spPr>
          <a:xfrm>
            <a:off x="3811937" y="4064772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623" name="Google Shape;623;p60"/>
          <p:cNvSpPr/>
          <p:nvPr/>
        </p:nvSpPr>
        <p:spPr>
          <a:xfrm>
            <a:off x="4030817" y="36275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0"/>
          <p:cNvSpPr/>
          <p:nvPr/>
        </p:nvSpPr>
        <p:spPr>
          <a:xfrm>
            <a:off x="4032074" y="2826045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0"/>
          <p:cNvSpPr/>
          <p:nvPr/>
        </p:nvSpPr>
        <p:spPr>
          <a:xfrm>
            <a:off x="4025208" y="2542673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0"/>
          <p:cNvSpPr/>
          <p:nvPr/>
        </p:nvSpPr>
        <p:spPr>
          <a:xfrm>
            <a:off x="4030817" y="33392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0"/>
          <p:cNvSpPr/>
          <p:nvPr/>
        </p:nvSpPr>
        <p:spPr>
          <a:xfrm>
            <a:off x="4033640" y="2323157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0"/>
          <p:cNvSpPr/>
          <p:nvPr/>
        </p:nvSpPr>
        <p:spPr>
          <a:xfrm>
            <a:off x="4030817" y="199009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9" name="Google Shape;629;p60"/>
          <p:cNvCxnSpPr/>
          <p:nvPr/>
        </p:nvCxnSpPr>
        <p:spPr>
          <a:xfrm>
            <a:off x="7218502" y="1428252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60"/>
          <p:cNvCxnSpPr/>
          <p:nvPr/>
        </p:nvCxnSpPr>
        <p:spPr>
          <a:xfrm>
            <a:off x="7469263" y="1437564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31" name="Google Shape;631;p60"/>
          <p:cNvSpPr/>
          <p:nvPr/>
        </p:nvSpPr>
        <p:spPr>
          <a:xfrm flipH="1">
            <a:off x="6903556" y="2846723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0"/>
          <p:cNvSpPr/>
          <p:nvPr/>
        </p:nvSpPr>
        <p:spPr>
          <a:xfrm>
            <a:off x="7148198" y="3335575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0"/>
          <p:cNvSpPr/>
          <p:nvPr/>
        </p:nvSpPr>
        <p:spPr>
          <a:xfrm>
            <a:off x="7140824" y="3008048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60"/>
          <p:cNvSpPr txBox="1"/>
          <p:nvPr/>
        </p:nvSpPr>
        <p:spPr>
          <a:xfrm>
            <a:off x="524990" y="4644693"/>
            <a:ext cx="10110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Flow</a:t>
            </a:r>
            <a:endParaRPr sz="1100"/>
          </a:p>
        </p:txBody>
      </p:sp>
      <p:sp>
        <p:nvSpPr>
          <p:cNvPr id="635" name="Google Shape;635;p60"/>
          <p:cNvSpPr txBox="1"/>
          <p:nvPr/>
        </p:nvSpPr>
        <p:spPr>
          <a:xfrm>
            <a:off x="3153811" y="4641186"/>
            <a:ext cx="20241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Trunk-based Development</a:t>
            </a:r>
            <a:endParaRPr sz="1100"/>
          </a:p>
        </p:txBody>
      </p:sp>
      <p:sp>
        <p:nvSpPr>
          <p:cNvPr id="636" name="Google Shape;636;p60"/>
          <p:cNvSpPr txBox="1"/>
          <p:nvPr/>
        </p:nvSpPr>
        <p:spPr>
          <a:xfrm>
            <a:off x="6638835" y="4637271"/>
            <a:ext cx="6936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GitFlow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7" name="Google Shape;637;p60"/>
          <p:cNvCxnSpPr>
            <a:endCxn id="638" idx="2"/>
          </p:cNvCxnSpPr>
          <p:nvPr/>
        </p:nvCxnSpPr>
        <p:spPr>
          <a:xfrm flipH="1" rot="10800000">
            <a:off x="6886346" y="2283638"/>
            <a:ext cx="930000" cy="39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9" name="Google Shape;639;p60"/>
          <p:cNvCxnSpPr>
            <a:endCxn id="610" idx="6"/>
          </p:cNvCxnSpPr>
          <p:nvPr/>
        </p:nvCxnSpPr>
        <p:spPr>
          <a:xfrm rot="10800000">
            <a:off x="6538810" y="1649270"/>
            <a:ext cx="1333800" cy="24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0" name="Google Shape;640;p60"/>
          <p:cNvSpPr/>
          <p:nvPr/>
        </p:nvSpPr>
        <p:spPr>
          <a:xfrm>
            <a:off x="6823985" y="2786717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0"/>
          <p:cNvSpPr/>
          <p:nvPr/>
        </p:nvSpPr>
        <p:spPr>
          <a:xfrm>
            <a:off x="6823985" y="1784709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0"/>
          <p:cNvSpPr/>
          <p:nvPr/>
        </p:nvSpPr>
        <p:spPr>
          <a:xfrm>
            <a:off x="7816346" y="2210438"/>
            <a:ext cx="140700" cy="14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0"/>
          <p:cNvSpPr txBox="1"/>
          <p:nvPr/>
        </p:nvSpPr>
        <p:spPr>
          <a:xfrm>
            <a:off x="2606040" y="1237992"/>
            <a:ext cx="5609700" cy="3763500"/>
          </a:xfrm>
          <a:prstGeom prst="rect">
            <a:avLst/>
          </a:prstGeom>
          <a:solidFill>
            <a:srgbClr val="FCF8F8">
              <a:alpha val="8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branches off the main branch</a:t>
            </a:r>
            <a:endParaRPr sz="1100"/>
          </a:p>
          <a:p>
            <a:pPr indent="-209550" lvl="1" marL="55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You, as the DS, may work off of your own branch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Merge or use pull request to merge to main branch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branch is the “production” branch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Bug can be introduced into production code since there is no separate “development” or “release” branch</a:t>
            </a:r>
            <a:endParaRPr sz="1100"/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 Strategies</a:t>
            </a:r>
            <a:endParaRPr/>
          </a:p>
        </p:txBody>
      </p:sp>
      <p:cxnSp>
        <p:nvCxnSpPr>
          <p:cNvPr id="647" name="Google Shape;647;p61"/>
          <p:cNvCxnSpPr/>
          <p:nvPr/>
        </p:nvCxnSpPr>
        <p:spPr>
          <a:xfrm>
            <a:off x="6886373" y="138325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8" name="Google Shape;648;p61"/>
          <p:cNvCxnSpPr/>
          <p:nvPr/>
        </p:nvCxnSpPr>
        <p:spPr>
          <a:xfrm>
            <a:off x="6468416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9" name="Google Shape;649;p61"/>
          <p:cNvSpPr txBox="1"/>
          <p:nvPr/>
        </p:nvSpPr>
        <p:spPr>
          <a:xfrm>
            <a:off x="7732737" y="4078251"/>
            <a:ext cx="483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 1.0</a:t>
            </a:r>
            <a:endParaRPr sz="1100"/>
          </a:p>
        </p:txBody>
      </p:sp>
      <p:sp>
        <p:nvSpPr>
          <p:cNvPr id="650" name="Google Shape;650;p61"/>
          <p:cNvSpPr txBox="1"/>
          <p:nvPr/>
        </p:nvSpPr>
        <p:spPr>
          <a:xfrm>
            <a:off x="6267583" y="4074084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651" name="Google Shape;651;p61"/>
          <p:cNvSpPr txBox="1"/>
          <p:nvPr/>
        </p:nvSpPr>
        <p:spPr>
          <a:xfrm>
            <a:off x="6732989" y="4085559"/>
            <a:ext cx="337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652" name="Google Shape;652;p61"/>
          <p:cNvCxnSpPr/>
          <p:nvPr/>
        </p:nvCxnSpPr>
        <p:spPr>
          <a:xfrm>
            <a:off x="830527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3" name="Google Shape;653;p61"/>
          <p:cNvSpPr txBox="1"/>
          <p:nvPr/>
        </p:nvSpPr>
        <p:spPr>
          <a:xfrm>
            <a:off x="605585" y="4084940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cxnSp>
        <p:nvCxnSpPr>
          <p:cNvPr id="654" name="Google Shape;654;p61"/>
          <p:cNvCxnSpPr>
            <a:endCxn id="655" idx="6"/>
          </p:cNvCxnSpPr>
          <p:nvPr/>
        </p:nvCxnSpPr>
        <p:spPr>
          <a:xfrm rot="10800000">
            <a:off x="6964685" y="1857909"/>
            <a:ext cx="908100" cy="15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6" name="Google Shape;656;p61"/>
          <p:cNvCxnSpPr/>
          <p:nvPr/>
        </p:nvCxnSpPr>
        <p:spPr>
          <a:xfrm>
            <a:off x="7879724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7" name="Google Shape;657;p61"/>
          <p:cNvSpPr/>
          <p:nvPr/>
        </p:nvSpPr>
        <p:spPr>
          <a:xfrm>
            <a:off x="6398110" y="157607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1"/>
          <p:cNvSpPr/>
          <p:nvPr/>
        </p:nvSpPr>
        <p:spPr>
          <a:xfrm flipH="1">
            <a:off x="843939" y="3043826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Google Shape;659;p61"/>
          <p:cNvCxnSpPr/>
          <p:nvPr/>
        </p:nvCxnSpPr>
        <p:spPr>
          <a:xfrm>
            <a:off x="115473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61"/>
          <p:cNvSpPr/>
          <p:nvPr/>
        </p:nvSpPr>
        <p:spPr>
          <a:xfrm>
            <a:off x="1097067" y="348023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61"/>
          <p:cNvSpPr/>
          <p:nvPr/>
        </p:nvSpPr>
        <p:spPr>
          <a:xfrm>
            <a:off x="1089911" y="3215863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61"/>
          <p:cNvSpPr/>
          <p:nvPr/>
        </p:nvSpPr>
        <p:spPr>
          <a:xfrm>
            <a:off x="767371" y="298903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61"/>
          <p:cNvCxnSpPr/>
          <p:nvPr/>
        </p:nvCxnSpPr>
        <p:spPr>
          <a:xfrm>
            <a:off x="142905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64" name="Google Shape;664;p61"/>
          <p:cNvSpPr/>
          <p:nvPr/>
        </p:nvSpPr>
        <p:spPr>
          <a:xfrm flipH="1">
            <a:off x="843755" y="1971377"/>
            <a:ext cx="585300" cy="815400"/>
          </a:xfrm>
          <a:prstGeom prst="leftBracket">
            <a:avLst>
              <a:gd fmla="val 33061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1"/>
          <p:cNvSpPr/>
          <p:nvPr/>
        </p:nvSpPr>
        <p:spPr>
          <a:xfrm>
            <a:off x="1358066" y="242540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1"/>
          <p:cNvSpPr/>
          <p:nvPr/>
        </p:nvSpPr>
        <p:spPr>
          <a:xfrm>
            <a:off x="767371" y="191658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1"/>
          <p:cNvSpPr/>
          <p:nvPr/>
        </p:nvSpPr>
        <p:spPr>
          <a:xfrm>
            <a:off x="1358066" y="2210439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8" name="Google Shape;668;p61"/>
          <p:cNvCxnSpPr/>
          <p:nvPr/>
        </p:nvCxnSpPr>
        <p:spPr>
          <a:xfrm>
            <a:off x="4101123" y="136078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9" name="Google Shape;669;p61"/>
          <p:cNvSpPr txBox="1"/>
          <p:nvPr/>
        </p:nvSpPr>
        <p:spPr>
          <a:xfrm>
            <a:off x="3811937" y="4064772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670" name="Google Shape;670;p61"/>
          <p:cNvSpPr/>
          <p:nvPr/>
        </p:nvSpPr>
        <p:spPr>
          <a:xfrm>
            <a:off x="4030817" y="36275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1"/>
          <p:cNvSpPr/>
          <p:nvPr/>
        </p:nvSpPr>
        <p:spPr>
          <a:xfrm>
            <a:off x="4032074" y="2826045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61"/>
          <p:cNvSpPr/>
          <p:nvPr/>
        </p:nvSpPr>
        <p:spPr>
          <a:xfrm>
            <a:off x="4033469" y="2532696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61"/>
          <p:cNvSpPr/>
          <p:nvPr/>
        </p:nvSpPr>
        <p:spPr>
          <a:xfrm>
            <a:off x="4030817" y="33392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1"/>
          <p:cNvSpPr/>
          <p:nvPr/>
        </p:nvSpPr>
        <p:spPr>
          <a:xfrm>
            <a:off x="4033640" y="2323157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61"/>
          <p:cNvSpPr/>
          <p:nvPr/>
        </p:nvSpPr>
        <p:spPr>
          <a:xfrm>
            <a:off x="4030817" y="199009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61"/>
          <p:cNvCxnSpPr/>
          <p:nvPr/>
        </p:nvCxnSpPr>
        <p:spPr>
          <a:xfrm>
            <a:off x="7218502" y="1428252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77" name="Google Shape;677;p61"/>
          <p:cNvCxnSpPr/>
          <p:nvPr/>
        </p:nvCxnSpPr>
        <p:spPr>
          <a:xfrm>
            <a:off x="7469263" y="1437564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78" name="Google Shape;678;p61"/>
          <p:cNvSpPr/>
          <p:nvPr/>
        </p:nvSpPr>
        <p:spPr>
          <a:xfrm flipH="1">
            <a:off x="6903556" y="2846723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7148198" y="3335575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1"/>
          <p:cNvSpPr/>
          <p:nvPr/>
        </p:nvSpPr>
        <p:spPr>
          <a:xfrm>
            <a:off x="7140824" y="3008048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1"/>
          <p:cNvSpPr txBox="1"/>
          <p:nvPr/>
        </p:nvSpPr>
        <p:spPr>
          <a:xfrm>
            <a:off x="524990" y="4644693"/>
            <a:ext cx="10110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Flow</a:t>
            </a:r>
            <a:endParaRPr sz="1100"/>
          </a:p>
        </p:txBody>
      </p:sp>
      <p:sp>
        <p:nvSpPr>
          <p:cNvPr id="682" name="Google Shape;682;p61"/>
          <p:cNvSpPr txBox="1"/>
          <p:nvPr/>
        </p:nvSpPr>
        <p:spPr>
          <a:xfrm>
            <a:off x="3153811" y="4641186"/>
            <a:ext cx="20241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Trunk-based Development</a:t>
            </a:r>
            <a:endParaRPr sz="1100"/>
          </a:p>
        </p:txBody>
      </p:sp>
      <p:sp>
        <p:nvSpPr>
          <p:cNvPr id="683" name="Google Shape;683;p61"/>
          <p:cNvSpPr txBox="1"/>
          <p:nvPr/>
        </p:nvSpPr>
        <p:spPr>
          <a:xfrm>
            <a:off x="6638835" y="4637271"/>
            <a:ext cx="6936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GitFlow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61"/>
          <p:cNvCxnSpPr>
            <a:endCxn id="685" idx="2"/>
          </p:cNvCxnSpPr>
          <p:nvPr/>
        </p:nvCxnSpPr>
        <p:spPr>
          <a:xfrm flipH="1" rot="10800000">
            <a:off x="6886346" y="2283638"/>
            <a:ext cx="930000" cy="39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6" name="Google Shape;686;p61"/>
          <p:cNvCxnSpPr>
            <a:endCxn id="657" idx="6"/>
          </p:cNvCxnSpPr>
          <p:nvPr/>
        </p:nvCxnSpPr>
        <p:spPr>
          <a:xfrm rot="10800000">
            <a:off x="6538810" y="1649270"/>
            <a:ext cx="1333800" cy="24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7" name="Google Shape;687;p61"/>
          <p:cNvSpPr/>
          <p:nvPr/>
        </p:nvSpPr>
        <p:spPr>
          <a:xfrm>
            <a:off x="6823985" y="2786717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1"/>
          <p:cNvSpPr/>
          <p:nvPr/>
        </p:nvSpPr>
        <p:spPr>
          <a:xfrm>
            <a:off x="6823985" y="1784709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1"/>
          <p:cNvSpPr/>
          <p:nvPr/>
        </p:nvSpPr>
        <p:spPr>
          <a:xfrm>
            <a:off x="7816346" y="2210438"/>
            <a:ext cx="140700" cy="14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1"/>
          <p:cNvSpPr txBox="1"/>
          <p:nvPr/>
        </p:nvSpPr>
        <p:spPr>
          <a:xfrm>
            <a:off x="384333" y="1151702"/>
            <a:ext cx="2752500" cy="3994200"/>
          </a:xfrm>
          <a:prstGeom prst="rect">
            <a:avLst/>
          </a:prstGeom>
          <a:solidFill>
            <a:srgbClr val="FCF8F8">
              <a:alpha val="8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branches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Frequent pushes to main branch (trunk)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 CI/CD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for very experienced devs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1"/>
          <p:cNvSpPr txBox="1"/>
          <p:nvPr/>
        </p:nvSpPr>
        <p:spPr>
          <a:xfrm>
            <a:off x="5693465" y="992329"/>
            <a:ext cx="2752500" cy="3994200"/>
          </a:xfrm>
          <a:prstGeom prst="rect">
            <a:avLst/>
          </a:prstGeom>
          <a:solidFill>
            <a:srgbClr val="FCF8F8">
              <a:alpha val="8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</a:pPr>
            <a:r>
              <a:rPr lang="en"/>
              <a:t>Branching Strategies</a:t>
            </a:r>
            <a:endParaRPr/>
          </a:p>
        </p:txBody>
      </p:sp>
      <p:cxnSp>
        <p:nvCxnSpPr>
          <p:cNvPr id="695" name="Google Shape;695;p62"/>
          <p:cNvCxnSpPr/>
          <p:nvPr/>
        </p:nvCxnSpPr>
        <p:spPr>
          <a:xfrm>
            <a:off x="6886373" y="138325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p62"/>
          <p:cNvCxnSpPr/>
          <p:nvPr/>
        </p:nvCxnSpPr>
        <p:spPr>
          <a:xfrm>
            <a:off x="6468416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7" name="Google Shape;697;p62"/>
          <p:cNvSpPr txBox="1"/>
          <p:nvPr/>
        </p:nvSpPr>
        <p:spPr>
          <a:xfrm>
            <a:off x="7732737" y="4078251"/>
            <a:ext cx="483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 1.0</a:t>
            </a:r>
            <a:endParaRPr sz="1100"/>
          </a:p>
        </p:txBody>
      </p:sp>
      <p:sp>
        <p:nvSpPr>
          <p:cNvPr id="698" name="Google Shape;698;p62"/>
          <p:cNvSpPr txBox="1"/>
          <p:nvPr/>
        </p:nvSpPr>
        <p:spPr>
          <a:xfrm>
            <a:off x="6267583" y="4074084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699" name="Google Shape;699;p62"/>
          <p:cNvSpPr txBox="1"/>
          <p:nvPr/>
        </p:nvSpPr>
        <p:spPr>
          <a:xfrm>
            <a:off x="6732989" y="4085559"/>
            <a:ext cx="337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sz="1100"/>
          </a:p>
        </p:txBody>
      </p:sp>
      <p:cxnSp>
        <p:nvCxnSpPr>
          <p:cNvPr id="700" name="Google Shape;700;p62"/>
          <p:cNvCxnSpPr/>
          <p:nvPr/>
        </p:nvCxnSpPr>
        <p:spPr>
          <a:xfrm>
            <a:off x="830527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1" name="Google Shape;701;p62"/>
          <p:cNvSpPr txBox="1"/>
          <p:nvPr/>
        </p:nvSpPr>
        <p:spPr>
          <a:xfrm>
            <a:off x="605585" y="4084940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cxnSp>
        <p:nvCxnSpPr>
          <p:cNvPr id="702" name="Google Shape;702;p62"/>
          <p:cNvCxnSpPr>
            <a:endCxn id="703" idx="6"/>
          </p:cNvCxnSpPr>
          <p:nvPr/>
        </p:nvCxnSpPr>
        <p:spPr>
          <a:xfrm rot="10800000">
            <a:off x="6964685" y="1857909"/>
            <a:ext cx="908100" cy="15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4" name="Google Shape;704;p62"/>
          <p:cNvCxnSpPr/>
          <p:nvPr/>
        </p:nvCxnSpPr>
        <p:spPr>
          <a:xfrm>
            <a:off x="7879724" y="139867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5" name="Google Shape;705;p62"/>
          <p:cNvSpPr/>
          <p:nvPr/>
        </p:nvSpPr>
        <p:spPr>
          <a:xfrm>
            <a:off x="6398110" y="157607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2"/>
          <p:cNvSpPr/>
          <p:nvPr/>
        </p:nvSpPr>
        <p:spPr>
          <a:xfrm flipH="1">
            <a:off x="843939" y="3043826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7" name="Google Shape;707;p62"/>
          <p:cNvCxnSpPr/>
          <p:nvPr/>
        </p:nvCxnSpPr>
        <p:spPr>
          <a:xfrm>
            <a:off x="115473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708" name="Google Shape;708;p62"/>
          <p:cNvSpPr/>
          <p:nvPr/>
        </p:nvSpPr>
        <p:spPr>
          <a:xfrm>
            <a:off x="1097067" y="348023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62"/>
          <p:cNvSpPr/>
          <p:nvPr/>
        </p:nvSpPr>
        <p:spPr>
          <a:xfrm>
            <a:off x="1089911" y="3215863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62"/>
          <p:cNvSpPr/>
          <p:nvPr/>
        </p:nvSpPr>
        <p:spPr>
          <a:xfrm>
            <a:off x="767371" y="2989030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1" name="Google Shape;711;p62"/>
          <p:cNvCxnSpPr/>
          <p:nvPr/>
        </p:nvCxnSpPr>
        <p:spPr>
          <a:xfrm>
            <a:off x="1429059" y="1409525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712" name="Google Shape;712;p62"/>
          <p:cNvSpPr/>
          <p:nvPr/>
        </p:nvSpPr>
        <p:spPr>
          <a:xfrm flipH="1">
            <a:off x="843755" y="1971377"/>
            <a:ext cx="585300" cy="815400"/>
          </a:xfrm>
          <a:prstGeom prst="leftBracket">
            <a:avLst>
              <a:gd fmla="val 33061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2"/>
          <p:cNvSpPr/>
          <p:nvPr/>
        </p:nvSpPr>
        <p:spPr>
          <a:xfrm>
            <a:off x="1358066" y="2425406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2"/>
          <p:cNvSpPr/>
          <p:nvPr/>
        </p:nvSpPr>
        <p:spPr>
          <a:xfrm>
            <a:off x="767371" y="191658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2"/>
          <p:cNvSpPr/>
          <p:nvPr/>
        </p:nvSpPr>
        <p:spPr>
          <a:xfrm>
            <a:off x="1358066" y="2210439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62"/>
          <p:cNvCxnSpPr/>
          <p:nvPr/>
        </p:nvCxnSpPr>
        <p:spPr>
          <a:xfrm>
            <a:off x="4101123" y="1360780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7" name="Google Shape;717;p62"/>
          <p:cNvSpPr txBox="1"/>
          <p:nvPr/>
        </p:nvSpPr>
        <p:spPr>
          <a:xfrm>
            <a:off x="3811937" y="4064772"/>
            <a:ext cx="449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100"/>
          </a:p>
        </p:txBody>
      </p:sp>
      <p:sp>
        <p:nvSpPr>
          <p:cNvPr id="718" name="Google Shape;718;p62"/>
          <p:cNvSpPr/>
          <p:nvPr/>
        </p:nvSpPr>
        <p:spPr>
          <a:xfrm>
            <a:off x="4030817" y="36275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62"/>
          <p:cNvSpPr/>
          <p:nvPr/>
        </p:nvSpPr>
        <p:spPr>
          <a:xfrm>
            <a:off x="4032074" y="2826045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2"/>
          <p:cNvSpPr/>
          <p:nvPr/>
        </p:nvSpPr>
        <p:spPr>
          <a:xfrm>
            <a:off x="4025208" y="2542673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2"/>
          <p:cNvSpPr/>
          <p:nvPr/>
        </p:nvSpPr>
        <p:spPr>
          <a:xfrm>
            <a:off x="4030817" y="333924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2"/>
          <p:cNvSpPr/>
          <p:nvPr/>
        </p:nvSpPr>
        <p:spPr>
          <a:xfrm>
            <a:off x="4033640" y="2323157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62"/>
          <p:cNvSpPr/>
          <p:nvPr/>
        </p:nvSpPr>
        <p:spPr>
          <a:xfrm>
            <a:off x="4030817" y="1990092"/>
            <a:ext cx="1407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4" name="Google Shape;724;p62"/>
          <p:cNvCxnSpPr/>
          <p:nvPr/>
        </p:nvCxnSpPr>
        <p:spPr>
          <a:xfrm>
            <a:off x="7218502" y="1428252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25" name="Google Shape;725;p62"/>
          <p:cNvCxnSpPr/>
          <p:nvPr/>
        </p:nvCxnSpPr>
        <p:spPr>
          <a:xfrm>
            <a:off x="7469263" y="1437564"/>
            <a:ext cx="0" cy="263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726" name="Google Shape;726;p62"/>
          <p:cNvSpPr/>
          <p:nvPr/>
        </p:nvSpPr>
        <p:spPr>
          <a:xfrm flipH="1">
            <a:off x="6903556" y="2846723"/>
            <a:ext cx="310800" cy="815400"/>
          </a:xfrm>
          <a:prstGeom prst="leftBracket">
            <a:avLst>
              <a:gd fmla="val 66919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62"/>
          <p:cNvSpPr/>
          <p:nvPr/>
        </p:nvSpPr>
        <p:spPr>
          <a:xfrm>
            <a:off x="7148198" y="3335575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62"/>
          <p:cNvSpPr/>
          <p:nvPr/>
        </p:nvSpPr>
        <p:spPr>
          <a:xfrm>
            <a:off x="7140824" y="3008048"/>
            <a:ext cx="140700" cy="14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62"/>
          <p:cNvSpPr txBox="1"/>
          <p:nvPr/>
        </p:nvSpPr>
        <p:spPr>
          <a:xfrm>
            <a:off x="524990" y="4644693"/>
            <a:ext cx="10110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Flow</a:t>
            </a:r>
            <a:endParaRPr sz="1100"/>
          </a:p>
        </p:txBody>
      </p:sp>
      <p:sp>
        <p:nvSpPr>
          <p:cNvPr id="730" name="Google Shape;730;p62"/>
          <p:cNvSpPr txBox="1"/>
          <p:nvPr/>
        </p:nvSpPr>
        <p:spPr>
          <a:xfrm>
            <a:off x="3153811" y="4641186"/>
            <a:ext cx="20241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Trunk-based Development</a:t>
            </a:r>
            <a:endParaRPr sz="1100"/>
          </a:p>
        </p:txBody>
      </p:sp>
      <p:sp>
        <p:nvSpPr>
          <p:cNvPr id="731" name="Google Shape;731;p62"/>
          <p:cNvSpPr txBox="1"/>
          <p:nvPr/>
        </p:nvSpPr>
        <p:spPr>
          <a:xfrm>
            <a:off x="6638835" y="4637271"/>
            <a:ext cx="693600" cy="500100"/>
          </a:xfrm>
          <a:prstGeom prst="rect">
            <a:avLst/>
          </a:prstGeom>
          <a:solidFill>
            <a:srgbClr val="E37DA8">
              <a:alpha val="4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GitFlow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62"/>
          <p:cNvCxnSpPr>
            <a:endCxn id="733" idx="2"/>
          </p:cNvCxnSpPr>
          <p:nvPr/>
        </p:nvCxnSpPr>
        <p:spPr>
          <a:xfrm flipH="1" rot="10800000">
            <a:off x="6886346" y="2283638"/>
            <a:ext cx="930000" cy="39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4" name="Google Shape;734;p62"/>
          <p:cNvCxnSpPr>
            <a:endCxn id="705" idx="6"/>
          </p:cNvCxnSpPr>
          <p:nvPr/>
        </p:nvCxnSpPr>
        <p:spPr>
          <a:xfrm rot="10800000">
            <a:off x="6538810" y="1649270"/>
            <a:ext cx="1333800" cy="24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5" name="Google Shape;735;p62"/>
          <p:cNvSpPr/>
          <p:nvPr/>
        </p:nvSpPr>
        <p:spPr>
          <a:xfrm>
            <a:off x="6823985" y="2786717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2"/>
          <p:cNvSpPr/>
          <p:nvPr/>
        </p:nvSpPr>
        <p:spPr>
          <a:xfrm>
            <a:off x="6823985" y="1784709"/>
            <a:ext cx="140700" cy="14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2"/>
          <p:cNvSpPr/>
          <p:nvPr/>
        </p:nvSpPr>
        <p:spPr>
          <a:xfrm>
            <a:off x="7816346" y="2210438"/>
            <a:ext cx="140700" cy="14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2"/>
          <p:cNvSpPr txBox="1"/>
          <p:nvPr/>
        </p:nvSpPr>
        <p:spPr>
          <a:xfrm>
            <a:off x="356564" y="1207940"/>
            <a:ext cx="5441100" cy="3763500"/>
          </a:xfrm>
          <a:prstGeom prst="rect">
            <a:avLst/>
          </a:prstGeom>
          <a:solidFill>
            <a:srgbClr val="FCF8F8">
              <a:alpha val="898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Consists of Main, Develop, Release, Feature, and Hotfix branches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branches off of Main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branch off of develop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Releases are prepared and merged with develop and main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Complex, best for very large teams </a:t>
            </a:r>
            <a:endParaRPr sz="1100"/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obert_theme">
  <a:themeElements>
    <a:clrScheme name="Robert_theme">
      <a:dk1>
        <a:srgbClr val="0F282F"/>
      </a:dk1>
      <a:lt1>
        <a:srgbClr val="FFFFFF"/>
      </a:lt1>
      <a:dk2>
        <a:srgbClr val="501F3A"/>
      </a:dk2>
      <a:lt2>
        <a:srgbClr val="FCF8F8"/>
      </a:lt2>
      <a:accent1>
        <a:srgbClr val="14A098"/>
      </a:accent1>
      <a:accent2>
        <a:srgbClr val="CB2C6F"/>
      </a:accent2>
      <a:accent3>
        <a:srgbClr val="CCCCCC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oan template">
  <a:themeElements>
    <a:clrScheme name="Custom 347">
      <a:dk1>
        <a:srgbClr val="000C18"/>
      </a:dk1>
      <a:lt1>
        <a:srgbClr val="FFFFFF"/>
      </a:lt1>
      <a:dk2>
        <a:srgbClr val="85939C"/>
      </a:dk2>
      <a:lt2>
        <a:srgbClr val="E3F2F8"/>
      </a:lt2>
      <a:accent1>
        <a:srgbClr val="25A6E0"/>
      </a:accent1>
      <a:accent2>
        <a:srgbClr val="104499"/>
      </a:accent2>
      <a:accent3>
        <a:srgbClr val="94E277"/>
      </a:accent3>
      <a:accent4>
        <a:srgbClr val="4FB974"/>
      </a:accent4>
      <a:accent5>
        <a:srgbClr val="E9AB2D"/>
      </a:accent5>
      <a:accent6>
        <a:srgbClr val="D67309"/>
      </a:accent6>
      <a:hlink>
        <a:srgbClr val="10449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